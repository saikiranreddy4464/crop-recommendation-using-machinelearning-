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8" r:id="rId3"/>
    <p:sldId id="259" r:id="rId4"/>
    <p:sldId id="260" r:id="rId5"/>
    <p:sldId id="261" r:id="rId6"/>
    <p:sldId id="262" r:id="rId7"/>
    <p:sldId id="263" r:id="rId8"/>
    <p:sldId id="264" r:id="rId9"/>
    <p:sldId id="266" r:id="rId10"/>
    <p:sldId id="268" r:id="rId11"/>
    <p:sldId id="265" r:id="rId12"/>
    <p:sldId id="267" r:id="rId13"/>
    <p:sldId id="269" r:id="rId14"/>
  </p:sldIdLst>
  <p:sldSz cx="12179300" cy="6858000"/>
  <p:notesSz cx="121793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78438"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899275" y="0"/>
            <a:ext cx="5276850" cy="344488"/>
          </a:xfrm>
          <a:prstGeom prst="rect">
            <a:avLst/>
          </a:prstGeom>
        </p:spPr>
        <p:txBody>
          <a:bodyPr vert="horz" lIns="91440" tIns="45720" rIns="91440" bIns="45720" rtlCol="0"/>
          <a:lstStyle>
            <a:lvl1pPr algn="r">
              <a:defRPr sz="1200"/>
            </a:lvl1pPr>
          </a:lstStyle>
          <a:p>
            <a:fld id="{ADF3B4EF-7391-41C8-B3B8-FADD993BF88D}" type="datetimeFigureOut">
              <a:rPr lang="en-IN" smtClean="0"/>
              <a:t>04-08-2026</a:t>
            </a:fld>
            <a:endParaRPr lang="en-IN"/>
          </a:p>
        </p:txBody>
      </p:sp>
      <p:sp>
        <p:nvSpPr>
          <p:cNvPr id="4" name="Slide Image Placeholder 3"/>
          <p:cNvSpPr>
            <a:spLocks noGrp="1" noRot="1" noChangeAspect="1"/>
          </p:cNvSpPr>
          <p:nvPr>
            <p:ph type="sldImg" idx="2"/>
          </p:nvPr>
        </p:nvSpPr>
        <p:spPr>
          <a:xfrm>
            <a:off x="4033838" y="857250"/>
            <a:ext cx="4111625"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7613" y="3300413"/>
            <a:ext cx="9744075"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78438"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899275" y="6513513"/>
            <a:ext cx="5276850" cy="344487"/>
          </a:xfrm>
          <a:prstGeom prst="rect">
            <a:avLst/>
          </a:prstGeom>
        </p:spPr>
        <p:txBody>
          <a:bodyPr vert="horz" lIns="91440" tIns="45720" rIns="91440" bIns="45720" rtlCol="0" anchor="b"/>
          <a:lstStyle>
            <a:lvl1pPr algn="r">
              <a:defRPr sz="1200"/>
            </a:lvl1pPr>
          </a:lstStyle>
          <a:p>
            <a:fld id="{8E8920D5-EE5A-41C1-B7FE-97D54CE1A358}" type="slidenum">
              <a:rPr lang="en-IN" smtClean="0"/>
              <a:t>‹#›</a:t>
            </a:fld>
            <a:endParaRPr lang="en-IN"/>
          </a:p>
        </p:txBody>
      </p:sp>
    </p:spTree>
    <p:extLst>
      <p:ext uri="{BB962C8B-B14F-4D97-AF65-F5344CB8AC3E}">
        <p14:creationId xmlns:p14="http://schemas.microsoft.com/office/powerpoint/2010/main" val="2433623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This slide illustrates that the project is a precision agriculture project that involves the use of data and technology to enhance agricultural decisions. Both soil nutrients and weather conditions play a role in crop growth, making crop selection difficult. Machine learning offers a chance to systematically analyse these factors and build an intelligent recommendation model that can help Agri-decision making.</a:t>
            </a:r>
          </a:p>
          <a:p>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3</a:t>
            </a:fld>
            <a:endParaRPr lang="en-IN"/>
          </a:p>
        </p:txBody>
      </p:sp>
    </p:spTree>
    <p:extLst>
      <p:ext uri="{BB962C8B-B14F-4D97-AF65-F5344CB8AC3E}">
        <p14:creationId xmlns:p14="http://schemas.microsoft.com/office/powerpoint/2010/main" val="319019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This slide shows one of the main challenges that were solved in this research is the traditional farming practices in crop selection. Decisions are less reliable where there are different environments and seasons. Past research also has methodological shortcomings. This project therefore proposes to create a machine learning-based recommendation system to facilitate accurate crop selection.</a:t>
            </a:r>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4</a:t>
            </a:fld>
            <a:endParaRPr lang="en-IN"/>
          </a:p>
        </p:txBody>
      </p:sp>
    </p:spTree>
    <p:extLst>
      <p:ext uri="{BB962C8B-B14F-4D97-AF65-F5344CB8AC3E}">
        <p14:creationId xmlns:p14="http://schemas.microsoft.com/office/powerpoint/2010/main" val="3218327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This slide presents research aims to develop an intelligent crop recommendation system using machine learning techniques. The objectives on which the study is guided include: analysis of agricultural data, preparation of the agricultural dataset, comparison of various machine learning models, and selection of the most successful model. The project is guided by three research questions that will guide the overall direction of the project.</a:t>
            </a:r>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5</a:t>
            </a:fld>
            <a:endParaRPr lang="en-IN"/>
          </a:p>
        </p:txBody>
      </p:sp>
    </p:spTree>
    <p:extLst>
      <p:ext uri="{BB962C8B-B14F-4D97-AF65-F5344CB8AC3E}">
        <p14:creationId xmlns:p14="http://schemas.microsoft.com/office/powerpoint/2010/main" val="421273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slide shows that the proposed methodology will be systematic and follow the machine learning pipeline starting from the data preparation and exploratory data analysis. The data is pre-processed and feature engineered for training five supervised learning algorithms. Multiple evaluation metrics will be used to compare their performances to determine which model for crop recommendation is the most accurate and reliable.</a:t>
            </a:r>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6</a:t>
            </a:fld>
            <a:endParaRPr lang="en-IN"/>
          </a:p>
        </p:txBody>
      </p:sp>
    </p:spTree>
    <p:extLst>
      <p:ext uri="{BB962C8B-B14F-4D97-AF65-F5344CB8AC3E}">
        <p14:creationId xmlns:p14="http://schemas.microsoft.com/office/powerpoint/2010/main" val="2903053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slide illustrates that the project's schedule has been fully adhered to. The proposal, literature review, data collection and project planning are successfully finished. Feature engineering and model development are ongoing. Other activities of the project include model evaluation, writing of the dissertation and submission of the dissertation.</a:t>
            </a:r>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7</a:t>
            </a:fld>
            <a:endParaRPr lang="en-IN"/>
          </a:p>
        </p:txBody>
      </p:sp>
    </p:spTree>
    <p:extLst>
      <p:ext uri="{BB962C8B-B14F-4D97-AF65-F5344CB8AC3E}">
        <p14:creationId xmlns:p14="http://schemas.microsoft.com/office/powerpoint/2010/main" val="839349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slide presents a literature review that indicates that machine learning is an effective approach to crop recommendations. But the existing literature has been limited to prediction accuracy with only a minor amount of feature engineering and model comparisons made. This project will fill these gaps by testing several algorithms and adding engineered features for agriculture and building a comprehensive crop recommendation system.</a:t>
            </a:r>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8</a:t>
            </a:fld>
            <a:endParaRPr lang="en-IN"/>
          </a:p>
        </p:txBody>
      </p:sp>
    </p:spTree>
    <p:extLst>
      <p:ext uri="{BB962C8B-B14F-4D97-AF65-F5344CB8AC3E}">
        <p14:creationId xmlns:p14="http://schemas.microsoft.com/office/powerpoint/2010/main" val="33526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slide shows that while developing the model, several technical problems were faced, such as feature engineering and choosing the right algorithm. To overcome those challenges, cross-validation for training and testing, feature scaling, literature guidance and systematic hyperparameter tuning were used. These methods helped to make the model more reliable and to have a fair comparison between the different machine learning methods.</a:t>
            </a:r>
          </a:p>
          <a:p>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9</a:t>
            </a:fld>
            <a:endParaRPr lang="en-IN"/>
          </a:p>
        </p:txBody>
      </p:sp>
    </p:spTree>
    <p:extLst>
      <p:ext uri="{BB962C8B-B14F-4D97-AF65-F5344CB8AC3E}">
        <p14:creationId xmlns:p14="http://schemas.microsoft.com/office/powerpoint/2010/main" val="36705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This slide depicts that the project foundation is mostly done: literature review, data work, exploratory analysis and feature engineering. Initial machine learning implementation has started as well. 80% of the planned work has been done, evaluation, documentation and final report preparation are still to be done.</a:t>
            </a:r>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10</a:t>
            </a:fld>
            <a:endParaRPr lang="en-IN"/>
          </a:p>
        </p:txBody>
      </p:sp>
    </p:spTree>
    <p:extLst>
      <p:ext uri="{BB962C8B-B14F-4D97-AF65-F5344CB8AC3E}">
        <p14:creationId xmlns:p14="http://schemas.microsoft.com/office/powerpoint/2010/main" val="2611718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slide examines the remaining part of the work which is devoted to the finalisation of the model evaluation process, the selection of the most appropriate algorithm and interpretation of the experimental results. The last few weeks will be spent writing, proofreading and preparing for the presentation of the dissertation. The planned sequence will guarantee a successful completion and timely delivery of the MSc project.</a:t>
            </a:r>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11</a:t>
            </a:fld>
            <a:endParaRPr lang="en-IN"/>
          </a:p>
        </p:txBody>
      </p:sp>
    </p:spTree>
    <p:extLst>
      <p:ext uri="{BB962C8B-B14F-4D97-AF65-F5344CB8AC3E}">
        <p14:creationId xmlns:p14="http://schemas.microsoft.com/office/powerpoint/2010/main" val="818682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This mid-project review slide shows the project is on track as per the original plan. The research foundation, data preparation and first implementation of machine learning are completed. The rest of the tasks are model evaluation, performance analysis and dissertation writing. The project appears to be on track for the anticipated submissions.</a:t>
            </a:r>
            <a:endParaRPr lang="en-IN" dirty="0"/>
          </a:p>
        </p:txBody>
      </p:sp>
      <p:sp>
        <p:nvSpPr>
          <p:cNvPr id="4" name="Slide Number Placeholder 3"/>
          <p:cNvSpPr>
            <a:spLocks noGrp="1"/>
          </p:cNvSpPr>
          <p:nvPr>
            <p:ph type="sldNum" sz="quarter" idx="5"/>
          </p:nvPr>
        </p:nvSpPr>
        <p:spPr/>
        <p:txBody>
          <a:bodyPr/>
          <a:lstStyle/>
          <a:p>
            <a:fld id="{8E8920D5-EE5A-41C1-B7FE-97D54CE1A358}" type="slidenum">
              <a:rPr lang="en-IN" smtClean="0"/>
              <a:t>12</a:t>
            </a:fld>
            <a:endParaRPr lang="en-IN"/>
          </a:p>
        </p:txBody>
      </p:sp>
    </p:spTree>
    <p:extLst>
      <p:ext uri="{BB962C8B-B14F-4D97-AF65-F5344CB8AC3E}">
        <p14:creationId xmlns:p14="http://schemas.microsoft.com/office/powerpoint/2010/main" val="3282579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3447" y="2125980"/>
            <a:ext cx="10352405" cy="144018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6895" y="3840480"/>
            <a:ext cx="8525510" cy="1714500"/>
          </a:xfrm>
          <a:prstGeom prst="rect">
            <a:avLst/>
          </a:prstGeom>
        </p:spPr>
        <p:txBody>
          <a:bodyPr wrap="square" lIns="0" tIns="0" rIns="0" bIns="0">
            <a:spAutoFit/>
          </a:bodyPr>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sz="half" idx="2"/>
          </p:nvPr>
        </p:nvSpPr>
        <p:spPr>
          <a:xfrm>
            <a:off x="608965" y="1577340"/>
            <a:ext cx="5297995"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2339" y="1577340"/>
            <a:ext cx="5297995"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79300" cy="6851015"/>
          </a:xfrm>
          <a:custGeom>
            <a:avLst/>
            <a:gdLst/>
            <a:ahLst/>
            <a:cxnLst/>
            <a:rect l="l" t="t" r="r" b="b"/>
            <a:pathLst>
              <a:path w="12179300" h="6851015">
                <a:moveTo>
                  <a:pt x="12179299" y="6850856"/>
                </a:moveTo>
                <a:lnTo>
                  <a:pt x="0" y="6850856"/>
                </a:lnTo>
                <a:lnTo>
                  <a:pt x="0" y="0"/>
                </a:lnTo>
                <a:lnTo>
                  <a:pt x="12179299" y="0"/>
                </a:lnTo>
                <a:lnTo>
                  <a:pt x="12179299" y="6850856"/>
                </a:lnTo>
                <a:close/>
              </a:path>
            </a:pathLst>
          </a:custGeom>
          <a:solidFill>
            <a:srgbClr val="F7F5CA"/>
          </a:solidFill>
        </p:spPr>
        <p:txBody>
          <a:bodyPr wrap="square" lIns="0" tIns="0" rIns="0" bIns="0" rtlCol="0"/>
          <a:lstStyle/>
          <a:p>
            <a:endParaRPr/>
          </a:p>
        </p:txBody>
      </p:sp>
      <p:sp>
        <p:nvSpPr>
          <p:cNvPr id="17" name="bg object 17"/>
          <p:cNvSpPr/>
          <p:nvPr/>
        </p:nvSpPr>
        <p:spPr>
          <a:xfrm>
            <a:off x="341643" y="673128"/>
            <a:ext cx="11508105" cy="0"/>
          </a:xfrm>
          <a:custGeom>
            <a:avLst/>
            <a:gdLst/>
            <a:ahLst/>
            <a:cxnLst/>
            <a:rect l="l" t="t" r="r" b="b"/>
            <a:pathLst>
              <a:path w="11508105">
                <a:moveTo>
                  <a:pt x="0" y="0"/>
                </a:moveTo>
                <a:lnTo>
                  <a:pt x="11507999" y="0"/>
                </a:lnTo>
              </a:path>
            </a:pathLst>
          </a:custGeom>
          <a:ln w="19030">
            <a:solidFill>
              <a:srgbClr val="053432"/>
            </a:solidFill>
          </a:ln>
        </p:spPr>
        <p:txBody>
          <a:bodyPr wrap="square" lIns="0" tIns="0" rIns="0" bIns="0" rtlCol="0"/>
          <a:lstStyle/>
          <a:p>
            <a:endParaRPr/>
          </a:p>
        </p:txBody>
      </p:sp>
      <p:sp>
        <p:nvSpPr>
          <p:cNvPr id="2" name="Holder 2"/>
          <p:cNvSpPr>
            <a:spLocks noGrp="1"/>
          </p:cNvSpPr>
          <p:nvPr>
            <p:ph type="title"/>
          </p:nvPr>
        </p:nvSpPr>
        <p:spPr>
          <a:xfrm>
            <a:off x="3880402" y="23262"/>
            <a:ext cx="4418494" cy="518795"/>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a:xfrm>
            <a:off x="219232" y="1469876"/>
            <a:ext cx="10456545" cy="4107179"/>
          </a:xfrm>
          <a:prstGeom prst="rect">
            <a:avLst/>
          </a:prstGeom>
        </p:spPr>
        <p:txBody>
          <a:bodyPr wrap="square" lIns="0" tIns="0" rIns="0" bIns="0">
            <a:spAutoFit/>
          </a:bodyPr>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4140962" y="6377940"/>
            <a:ext cx="3897376"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8965" y="6377940"/>
            <a:ext cx="2801239"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8/4/2026</a:t>
            </a:fld>
            <a:endParaRPr lang="en-US"/>
          </a:p>
        </p:txBody>
      </p:sp>
      <p:sp>
        <p:nvSpPr>
          <p:cNvPr id="6" name="Holder 6"/>
          <p:cNvSpPr>
            <a:spLocks noGrp="1"/>
          </p:cNvSpPr>
          <p:nvPr>
            <p:ph type="sldNum" sz="quarter" idx="7"/>
          </p:nvPr>
        </p:nvSpPr>
        <p:spPr>
          <a:xfrm>
            <a:off x="8769096" y="6377940"/>
            <a:ext cx="2801239"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79300" cy="6851015"/>
          </a:xfrm>
          <a:custGeom>
            <a:avLst/>
            <a:gdLst/>
            <a:ahLst/>
            <a:cxnLst/>
            <a:rect l="l" t="t" r="r" b="b"/>
            <a:pathLst>
              <a:path w="12179300" h="6851015">
                <a:moveTo>
                  <a:pt x="12179299" y="6850856"/>
                </a:moveTo>
                <a:lnTo>
                  <a:pt x="0" y="6850856"/>
                </a:lnTo>
                <a:lnTo>
                  <a:pt x="0" y="0"/>
                </a:lnTo>
                <a:lnTo>
                  <a:pt x="12179299" y="0"/>
                </a:lnTo>
                <a:lnTo>
                  <a:pt x="12179299" y="6850856"/>
                </a:lnTo>
                <a:close/>
              </a:path>
            </a:pathLst>
          </a:custGeom>
          <a:solidFill>
            <a:srgbClr val="053432"/>
          </a:solidFill>
        </p:spPr>
        <p:txBody>
          <a:bodyPr wrap="square" lIns="0" tIns="0" rIns="0" bIns="0" rtlCol="0"/>
          <a:lstStyle/>
          <a:p>
            <a:endParaRPr/>
          </a:p>
        </p:txBody>
      </p:sp>
      <p:sp>
        <p:nvSpPr>
          <p:cNvPr id="3" name="object 3"/>
          <p:cNvSpPr/>
          <p:nvPr/>
        </p:nvSpPr>
        <p:spPr>
          <a:xfrm>
            <a:off x="335650" y="546903"/>
            <a:ext cx="11508105" cy="0"/>
          </a:xfrm>
          <a:custGeom>
            <a:avLst/>
            <a:gdLst/>
            <a:ahLst/>
            <a:cxnLst/>
            <a:rect l="l" t="t" r="r" b="b"/>
            <a:pathLst>
              <a:path w="11508105">
                <a:moveTo>
                  <a:pt x="0" y="0"/>
                </a:moveTo>
                <a:lnTo>
                  <a:pt x="11507999" y="0"/>
                </a:lnTo>
              </a:path>
            </a:pathLst>
          </a:custGeom>
          <a:ln w="19030">
            <a:solidFill>
              <a:srgbClr val="F1B57C"/>
            </a:solidFill>
          </a:ln>
        </p:spPr>
        <p:txBody>
          <a:bodyPr wrap="square" lIns="0" tIns="0" rIns="0" bIns="0" rtlCol="0"/>
          <a:lstStyle/>
          <a:p>
            <a:endParaRPr/>
          </a:p>
        </p:txBody>
      </p:sp>
      <p:sp>
        <p:nvSpPr>
          <p:cNvPr id="4" name="object 4"/>
          <p:cNvSpPr/>
          <p:nvPr/>
        </p:nvSpPr>
        <p:spPr>
          <a:xfrm>
            <a:off x="335650" y="6308904"/>
            <a:ext cx="11508105" cy="0"/>
          </a:xfrm>
          <a:custGeom>
            <a:avLst/>
            <a:gdLst/>
            <a:ahLst/>
            <a:cxnLst/>
            <a:rect l="l" t="t" r="r" b="b"/>
            <a:pathLst>
              <a:path w="11508105">
                <a:moveTo>
                  <a:pt x="0" y="0"/>
                </a:moveTo>
                <a:lnTo>
                  <a:pt x="11507999" y="0"/>
                </a:lnTo>
              </a:path>
            </a:pathLst>
          </a:custGeom>
          <a:ln w="19030">
            <a:solidFill>
              <a:srgbClr val="F1B57C"/>
            </a:solidFill>
          </a:ln>
        </p:spPr>
        <p:txBody>
          <a:bodyPr wrap="square" lIns="0" tIns="0" rIns="0" bIns="0" rtlCol="0"/>
          <a:lstStyle/>
          <a:p>
            <a:endParaRPr/>
          </a:p>
        </p:txBody>
      </p:sp>
      <p:sp>
        <p:nvSpPr>
          <p:cNvPr id="5" name="object 5"/>
          <p:cNvSpPr txBox="1"/>
          <p:nvPr/>
        </p:nvSpPr>
        <p:spPr>
          <a:xfrm>
            <a:off x="0" y="2639503"/>
            <a:ext cx="12566650" cy="1858842"/>
          </a:xfrm>
          <a:prstGeom prst="rect">
            <a:avLst/>
          </a:prstGeom>
        </p:spPr>
        <p:txBody>
          <a:bodyPr vert="horz" wrap="square" lIns="0" tIns="12065" rIns="0" bIns="0" rtlCol="0">
            <a:spAutoFit/>
          </a:bodyPr>
          <a:lstStyle/>
          <a:p>
            <a:pPr algn="ctr"/>
            <a:r>
              <a:rPr lang="en-IN" sz="4000" b="1" dirty="0">
                <a:solidFill>
                  <a:srgbClr val="00B0F0"/>
                </a:solidFill>
                <a:latin typeface="Calibri"/>
                <a:cs typeface="Calibri"/>
              </a:rPr>
              <a:t>Crop Recommendation System Using</a:t>
            </a:r>
          </a:p>
          <a:p>
            <a:pPr algn="ctr"/>
            <a:r>
              <a:rPr lang="en-IN" sz="4000" b="1" dirty="0">
                <a:solidFill>
                  <a:srgbClr val="00B0F0"/>
                </a:solidFill>
                <a:latin typeface="Calibri"/>
                <a:cs typeface="Calibri"/>
              </a:rPr>
              <a:t>Machine Learning Based on NPK Soil Nutrients and</a:t>
            </a:r>
          </a:p>
          <a:p>
            <a:pPr algn="ctr"/>
            <a:r>
              <a:rPr lang="en-IN" sz="4000" b="1" dirty="0">
                <a:solidFill>
                  <a:srgbClr val="00B0F0"/>
                </a:solidFill>
                <a:latin typeface="Calibri"/>
                <a:cs typeface="Calibri"/>
              </a:rPr>
              <a:t>Weather Conditions</a:t>
            </a:r>
          </a:p>
        </p:txBody>
      </p:sp>
      <p:sp>
        <p:nvSpPr>
          <p:cNvPr id="6" name="object 6"/>
          <p:cNvSpPr txBox="1"/>
          <p:nvPr/>
        </p:nvSpPr>
        <p:spPr>
          <a:xfrm>
            <a:off x="1136651" y="4505435"/>
            <a:ext cx="4080934" cy="1461041"/>
          </a:xfrm>
          <a:prstGeom prst="rect">
            <a:avLst/>
          </a:prstGeom>
        </p:spPr>
        <p:txBody>
          <a:bodyPr vert="horz" wrap="square" lIns="0" tIns="27305" rIns="0" bIns="0" rtlCol="0">
            <a:spAutoFit/>
          </a:bodyPr>
          <a:lstStyle/>
          <a:p>
            <a:pPr marL="12700" marR="5080">
              <a:lnSpc>
                <a:spcPts val="3820"/>
              </a:lnSpc>
              <a:spcBef>
                <a:spcPts val="215"/>
              </a:spcBef>
            </a:pPr>
            <a:r>
              <a:rPr sz="2000" dirty="0">
                <a:solidFill>
                  <a:srgbClr val="F7F5CA"/>
                </a:solidFill>
                <a:latin typeface="Calibri"/>
                <a:cs typeface="Calibri"/>
              </a:rPr>
              <a:t>Student</a:t>
            </a:r>
            <a:r>
              <a:rPr sz="2000" spc="-140" dirty="0">
                <a:solidFill>
                  <a:srgbClr val="F7F5CA"/>
                </a:solidFill>
                <a:latin typeface="Calibri"/>
                <a:cs typeface="Calibri"/>
              </a:rPr>
              <a:t> </a:t>
            </a:r>
            <a:r>
              <a:rPr sz="2000" spc="-10" dirty="0">
                <a:solidFill>
                  <a:srgbClr val="F7F5CA"/>
                </a:solidFill>
                <a:latin typeface="Calibri"/>
                <a:cs typeface="Calibri"/>
              </a:rPr>
              <a:t>Name:</a:t>
            </a:r>
            <a:r>
              <a:rPr lang="en-US" sz="2000" spc="-10" dirty="0">
                <a:solidFill>
                  <a:srgbClr val="F7F5CA"/>
                </a:solidFill>
                <a:latin typeface="Calibri"/>
                <a:cs typeface="Calibri"/>
              </a:rPr>
              <a:t> SAI KIRAN REDDY KONDAM</a:t>
            </a:r>
          </a:p>
          <a:p>
            <a:pPr marL="12700" marR="5080">
              <a:lnSpc>
                <a:spcPts val="3820"/>
              </a:lnSpc>
              <a:spcBef>
                <a:spcPts val="215"/>
              </a:spcBef>
            </a:pPr>
            <a:r>
              <a:rPr sz="2000" dirty="0">
                <a:solidFill>
                  <a:srgbClr val="F7F5CA"/>
                </a:solidFill>
                <a:latin typeface="Calibri"/>
                <a:cs typeface="Calibri"/>
              </a:rPr>
              <a:t>Supervisor</a:t>
            </a:r>
            <a:r>
              <a:rPr sz="2000" spc="-120" dirty="0">
                <a:solidFill>
                  <a:srgbClr val="F7F5CA"/>
                </a:solidFill>
                <a:latin typeface="Calibri"/>
                <a:cs typeface="Calibri"/>
              </a:rPr>
              <a:t> </a:t>
            </a:r>
            <a:r>
              <a:rPr sz="2000" spc="-20" dirty="0">
                <a:solidFill>
                  <a:srgbClr val="F7F5CA"/>
                </a:solidFill>
                <a:latin typeface="Calibri"/>
                <a:cs typeface="Calibri"/>
              </a:rPr>
              <a:t>Name</a:t>
            </a:r>
            <a:r>
              <a:rPr lang="en-US" sz="2000" spc="-20" dirty="0">
                <a:solidFill>
                  <a:srgbClr val="F7F5CA"/>
                </a:solidFill>
                <a:latin typeface="Calibri"/>
                <a:cs typeface="Calibri"/>
              </a:rPr>
              <a:t>: </a:t>
            </a:r>
            <a:r>
              <a:rPr lang="en-US" sz="2000" spc="-20" dirty="0" err="1">
                <a:solidFill>
                  <a:srgbClr val="F7F5CA"/>
                </a:solidFill>
                <a:latin typeface="Calibri"/>
                <a:cs typeface="Calibri"/>
              </a:rPr>
              <a:t>Dr.Shekoufeh</a:t>
            </a:r>
            <a:r>
              <a:rPr lang="en-US" sz="2000" spc="-20" dirty="0">
                <a:solidFill>
                  <a:srgbClr val="F7F5CA"/>
                </a:solidFill>
                <a:latin typeface="Calibri"/>
                <a:cs typeface="Calibri"/>
              </a:rPr>
              <a:t> Rahimi</a:t>
            </a:r>
            <a:endParaRPr sz="2000" dirty="0">
              <a:latin typeface="Calibri"/>
              <a:cs typeface="Calibri"/>
            </a:endParaRPr>
          </a:p>
        </p:txBody>
      </p:sp>
      <p:sp>
        <p:nvSpPr>
          <p:cNvPr id="7" name="object 7" descr="$PPTXTitle"/>
          <p:cNvSpPr txBox="1">
            <a:spLocks noGrp="1"/>
          </p:cNvSpPr>
          <p:nvPr>
            <p:ph type="title"/>
          </p:nvPr>
        </p:nvSpPr>
        <p:spPr>
          <a:xfrm>
            <a:off x="4579482" y="951761"/>
            <a:ext cx="3027045" cy="756285"/>
          </a:xfrm>
          <a:prstGeom prst="rect">
            <a:avLst/>
          </a:prstGeom>
        </p:spPr>
        <p:txBody>
          <a:bodyPr vert="horz" wrap="square" lIns="0" tIns="12065" rIns="0" bIns="0" rtlCol="0">
            <a:spAutoFit/>
          </a:bodyPr>
          <a:lstStyle/>
          <a:p>
            <a:pPr marL="12700">
              <a:lnSpc>
                <a:spcPct val="100000"/>
              </a:lnSpc>
              <a:spcBef>
                <a:spcPts val="95"/>
              </a:spcBef>
            </a:pPr>
            <a:r>
              <a:rPr sz="4800" b="1" dirty="0">
                <a:solidFill>
                  <a:srgbClr val="00C386"/>
                </a:solidFill>
                <a:latin typeface="Calibri"/>
                <a:cs typeface="Calibri"/>
              </a:rPr>
              <a:t>MSc</a:t>
            </a:r>
            <a:r>
              <a:rPr sz="4800" b="1" spc="-90" dirty="0">
                <a:solidFill>
                  <a:srgbClr val="00C386"/>
                </a:solidFill>
                <a:latin typeface="Calibri"/>
                <a:cs typeface="Calibri"/>
              </a:rPr>
              <a:t> </a:t>
            </a:r>
            <a:r>
              <a:rPr sz="4800" b="1" spc="-10" dirty="0">
                <a:solidFill>
                  <a:srgbClr val="00C386"/>
                </a:solidFill>
                <a:latin typeface="Calibri"/>
                <a:cs typeface="Calibri"/>
              </a:rPr>
              <a:t>Project</a:t>
            </a:r>
            <a:endParaRPr sz="4800">
              <a:latin typeface="Calibri"/>
              <a:cs typeface="Calibri"/>
            </a:endParaRPr>
          </a:p>
        </p:txBody>
      </p:sp>
      <p:sp>
        <p:nvSpPr>
          <p:cNvPr id="8" name="object 8"/>
          <p:cNvSpPr txBox="1"/>
          <p:nvPr/>
        </p:nvSpPr>
        <p:spPr>
          <a:xfrm>
            <a:off x="4170333" y="1700280"/>
            <a:ext cx="3844925" cy="727075"/>
          </a:xfrm>
          <a:prstGeom prst="rect">
            <a:avLst/>
          </a:prstGeom>
        </p:spPr>
        <p:txBody>
          <a:bodyPr vert="horz" wrap="square" lIns="0" tIns="12065" rIns="0" bIns="0" rtlCol="0">
            <a:spAutoFit/>
          </a:bodyPr>
          <a:lstStyle/>
          <a:p>
            <a:pPr marL="11430" algn="ctr">
              <a:lnSpc>
                <a:spcPct val="100000"/>
              </a:lnSpc>
              <a:spcBef>
                <a:spcPts val="95"/>
              </a:spcBef>
            </a:pPr>
            <a:r>
              <a:rPr sz="2200" spc="-10" dirty="0">
                <a:solidFill>
                  <a:srgbClr val="00C386"/>
                </a:solidFill>
                <a:latin typeface="Calibri"/>
                <a:cs typeface="Calibri"/>
              </a:rPr>
              <a:t>(CMP060L050S)</a:t>
            </a:r>
            <a:endParaRPr sz="2200">
              <a:latin typeface="Calibri"/>
              <a:cs typeface="Calibri"/>
            </a:endParaRPr>
          </a:p>
          <a:p>
            <a:pPr algn="ctr">
              <a:lnSpc>
                <a:spcPct val="100000"/>
              </a:lnSpc>
              <a:spcBef>
                <a:spcPts val="10"/>
              </a:spcBef>
            </a:pPr>
            <a:r>
              <a:rPr sz="2400" spc="-20" dirty="0">
                <a:solidFill>
                  <a:srgbClr val="F7F5CA"/>
                </a:solidFill>
                <a:latin typeface="Calibri"/>
                <a:cs typeface="Calibri"/>
              </a:rPr>
              <a:t>Mid-</a:t>
            </a:r>
            <a:r>
              <a:rPr sz="2400" dirty="0">
                <a:solidFill>
                  <a:srgbClr val="F7F5CA"/>
                </a:solidFill>
                <a:latin typeface="Calibri"/>
                <a:cs typeface="Calibri"/>
              </a:rPr>
              <a:t>Point</a:t>
            </a:r>
            <a:r>
              <a:rPr sz="2400" spc="-105" dirty="0">
                <a:solidFill>
                  <a:srgbClr val="F7F5CA"/>
                </a:solidFill>
                <a:latin typeface="Calibri"/>
                <a:cs typeface="Calibri"/>
              </a:rPr>
              <a:t> </a:t>
            </a:r>
            <a:r>
              <a:rPr sz="2400" dirty="0">
                <a:solidFill>
                  <a:srgbClr val="F7F5CA"/>
                </a:solidFill>
                <a:latin typeface="Calibri"/>
                <a:cs typeface="Calibri"/>
              </a:rPr>
              <a:t>Review</a:t>
            </a:r>
            <a:r>
              <a:rPr sz="2400" spc="-105" dirty="0">
                <a:solidFill>
                  <a:srgbClr val="F7F5CA"/>
                </a:solidFill>
                <a:latin typeface="Calibri"/>
                <a:cs typeface="Calibri"/>
              </a:rPr>
              <a:t> </a:t>
            </a:r>
            <a:r>
              <a:rPr sz="2400" spc="-10" dirty="0">
                <a:solidFill>
                  <a:srgbClr val="F7F5CA"/>
                </a:solidFill>
                <a:latin typeface="Calibri"/>
                <a:cs typeface="Calibri"/>
              </a:rPr>
              <a:t>Presentation</a:t>
            </a:r>
            <a:endParaRPr sz="2400">
              <a:latin typeface="Calibri"/>
              <a:cs typeface="Calibri"/>
            </a:endParaRPr>
          </a:p>
        </p:txBody>
      </p:sp>
      <p:sp>
        <p:nvSpPr>
          <p:cNvPr id="10" name="TextBox 9">
            <a:extLst>
              <a:ext uri="{FF2B5EF4-FFF2-40B4-BE49-F238E27FC236}">
                <a16:creationId xmlns:a16="http://schemas.microsoft.com/office/drawing/2014/main" id="{3FF67E75-00BA-7539-1925-632975678873}"/>
              </a:ext>
            </a:extLst>
          </p:cNvPr>
          <p:cNvSpPr txBox="1"/>
          <p:nvPr/>
        </p:nvSpPr>
        <p:spPr>
          <a:xfrm>
            <a:off x="3141407" y="3246792"/>
            <a:ext cx="6282812" cy="369332"/>
          </a:xfrm>
          <a:prstGeom prst="rect">
            <a:avLst/>
          </a:prstGeom>
          <a:noFill/>
        </p:spPr>
        <p:txBody>
          <a:bodyPr wrap="square">
            <a:spAutoFit/>
          </a:bodyPr>
          <a:lstStyle/>
          <a:p>
            <a:r>
              <a:rPr lang="en-001" b="0" i="0" dirty="0">
                <a:solidFill>
                  <a:srgbClr val="000000"/>
                </a:solidFill>
                <a:effectLst/>
                <a:latin typeface="Arial" panose="020B0604020202020204" pitchFamily="34" charset="0"/>
              </a:rPr>
              <a:t>SAI KIRAN REDDY KONDAM</a:t>
            </a:r>
            <a:endParaRPr lang="en-00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145" rIns="0" bIns="0" rtlCol="0">
            <a:spAutoFit/>
          </a:bodyPr>
          <a:lstStyle/>
          <a:p>
            <a:pPr marL="1595120">
              <a:lnSpc>
                <a:spcPct val="100000"/>
              </a:lnSpc>
              <a:spcBef>
                <a:spcPts val="135"/>
              </a:spcBef>
            </a:pPr>
            <a:r>
              <a:rPr sz="3200" spc="-10" dirty="0"/>
              <a:t>Outline</a:t>
            </a:r>
            <a:endParaRPr sz="3200"/>
          </a:p>
        </p:txBody>
      </p:sp>
      <p:sp>
        <p:nvSpPr>
          <p:cNvPr id="3" name="object 3"/>
          <p:cNvSpPr txBox="1"/>
          <p:nvPr/>
        </p:nvSpPr>
        <p:spPr>
          <a:xfrm>
            <a:off x="48061" y="625929"/>
            <a:ext cx="4242435" cy="3955415"/>
          </a:xfrm>
          <a:prstGeom prst="rect">
            <a:avLst/>
          </a:prstGeom>
        </p:spPr>
        <p:txBody>
          <a:bodyPr vert="horz" wrap="square" lIns="0" tIns="86360" rIns="0" bIns="0" rtlCol="0">
            <a:spAutoFit/>
          </a:bodyPr>
          <a:lstStyle/>
          <a:p>
            <a:pPr marL="469265" indent="-456565">
              <a:lnSpc>
                <a:spcPct val="100000"/>
              </a:lnSpc>
              <a:spcBef>
                <a:spcPts val="680"/>
              </a:spcBef>
              <a:buClr>
                <a:srgbClr val="B40000"/>
              </a:buClr>
              <a:buSzPct val="75000"/>
              <a:buFont typeface="Lucida Sans Unicode"/>
              <a:buChar char="►"/>
              <a:tabLst>
                <a:tab pos="469265" algn="l"/>
              </a:tabLst>
            </a:pPr>
            <a:r>
              <a:rPr sz="3200" spc="-10" dirty="0">
                <a:latin typeface="Calibri"/>
                <a:cs typeface="Calibri"/>
              </a:rPr>
              <a:t>context</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problematic</a:t>
            </a:r>
            <a:r>
              <a:rPr sz="3200" spc="-140" dirty="0">
                <a:latin typeface="Calibri"/>
                <a:cs typeface="Calibri"/>
              </a:rPr>
              <a:t> </a:t>
            </a:r>
            <a:r>
              <a:rPr sz="3200" spc="-10" dirty="0">
                <a:latin typeface="Calibri"/>
                <a:cs typeface="Calibri"/>
              </a:rPr>
              <a:t>statement</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objectives</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methodology</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dirty="0">
                <a:latin typeface="Calibri"/>
                <a:cs typeface="Calibri"/>
              </a:rPr>
              <a:t>project</a:t>
            </a:r>
            <a:r>
              <a:rPr sz="3200" spc="-90" dirty="0">
                <a:latin typeface="Calibri"/>
                <a:cs typeface="Calibri"/>
              </a:rPr>
              <a:t> </a:t>
            </a:r>
            <a:r>
              <a:rPr sz="3200" spc="-10" dirty="0">
                <a:latin typeface="Calibri"/>
                <a:cs typeface="Calibri"/>
              </a:rPr>
              <a:t>management</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literature</a:t>
            </a:r>
            <a:r>
              <a:rPr sz="3200" spc="-165" dirty="0">
                <a:latin typeface="Calibri"/>
                <a:cs typeface="Calibri"/>
              </a:rPr>
              <a:t> </a:t>
            </a:r>
            <a:r>
              <a:rPr sz="3200" spc="-10" dirty="0">
                <a:latin typeface="Calibri"/>
                <a:cs typeface="Calibri"/>
              </a:rPr>
              <a:t>review</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dirty="0">
                <a:latin typeface="Calibri"/>
                <a:cs typeface="Calibri"/>
              </a:rPr>
              <a:t>next</a:t>
            </a:r>
            <a:r>
              <a:rPr sz="3200" spc="-110" dirty="0">
                <a:latin typeface="Calibri"/>
                <a:cs typeface="Calibri"/>
              </a:rPr>
              <a:t> </a:t>
            </a:r>
            <a:r>
              <a:rPr sz="3200" spc="-20" dirty="0">
                <a:latin typeface="Calibri"/>
                <a:cs typeface="Calibri"/>
              </a:rPr>
              <a:t>steps</a:t>
            </a:r>
            <a:endParaRPr sz="3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145" rIns="0" bIns="0" rtlCol="0">
            <a:spAutoFit/>
          </a:bodyPr>
          <a:lstStyle/>
          <a:p>
            <a:pPr marL="1566545">
              <a:lnSpc>
                <a:spcPct val="100000"/>
              </a:lnSpc>
              <a:spcBef>
                <a:spcPts val="135"/>
              </a:spcBef>
            </a:pPr>
            <a:r>
              <a:rPr sz="3200" spc="-10" dirty="0"/>
              <a:t>Context</a:t>
            </a:r>
            <a:endParaRPr sz="3200"/>
          </a:p>
        </p:txBody>
      </p:sp>
      <p:sp>
        <p:nvSpPr>
          <p:cNvPr id="3" name="object 3"/>
          <p:cNvSpPr txBox="1"/>
          <p:nvPr/>
        </p:nvSpPr>
        <p:spPr>
          <a:xfrm>
            <a:off x="374650" y="1219200"/>
            <a:ext cx="11680389" cy="4074833"/>
          </a:xfrm>
          <a:prstGeom prst="rect">
            <a:avLst/>
          </a:prstGeom>
        </p:spPr>
        <p:txBody>
          <a:bodyPr vert="horz" wrap="square" lIns="0" tIns="12065" rIns="0" bIns="0" rtlCol="0">
            <a:spAutoFit/>
          </a:bodyPr>
          <a:lstStyle/>
          <a:p>
            <a:pPr marL="342900" lvl="0" indent="-342900">
              <a:buFont typeface="Arial" panose="020B0604020202020204" pitchFamily="34" charset="0"/>
              <a:buChar char="•"/>
            </a:pPr>
            <a:r>
              <a:rPr lang="en-IN" sz="2400" dirty="0"/>
              <a:t>Precision agriculture combines digital technologies and data analytics to inform and optimise agricultural decisions and practices </a:t>
            </a:r>
            <a:r>
              <a:rPr lang="en-US" sz="2400" dirty="0"/>
              <a:t>[1]</a:t>
            </a:r>
            <a:r>
              <a:rPr lang="en-IN" sz="2400" dirty="0"/>
              <a:t>.</a:t>
            </a:r>
          </a:p>
          <a:p>
            <a:pPr marL="342900" lvl="0" indent="-342900">
              <a:buFont typeface="Arial" panose="020B0604020202020204" pitchFamily="34" charset="0"/>
              <a:buChar char="•"/>
            </a:pPr>
            <a:r>
              <a:rPr lang="en-IN" sz="2400" dirty="0"/>
              <a:t>The growing conditions, soil properties and nutrient contents play a significant role in the quality of crop growth and yield, as well as in sustainable agriculture </a:t>
            </a:r>
            <a:r>
              <a:rPr lang="en-US" sz="2400" dirty="0"/>
              <a:t>[2]</a:t>
            </a:r>
            <a:r>
              <a:rPr lang="en-IN" sz="2400" dirty="0"/>
              <a:t>.</a:t>
            </a:r>
          </a:p>
          <a:p>
            <a:pPr marL="342900" lvl="0" indent="-342900">
              <a:buFont typeface="Arial" panose="020B0604020202020204" pitchFamily="34" charset="0"/>
              <a:buChar char="•"/>
            </a:pPr>
            <a:r>
              <a:rPr lang="en-IN" sz="2400" dirty="0"/>
              <a:t>Machine learning technology can be used to make intelligent crop recommendations based on measurable agricultural and environmental data through pattern recognition </a:t>
            </a:r>
            <a:r>
              <a:rPr lang="en-US" sz="2400" dirty="0"/>
              <a:t>[3]</a:t>
            </a:r>
            <a:r>
              <a:rPr lang="en-IN" sz="2400" dirty="0"/>
              <a:t>.</a:t>
            </a:r>
          </a:p>
          <a:p>
            <a:pPr marL="342900" lvl="0" indent="-342900">
              <a:buFont typeface="Arial" panose="020B0604020202020204" pitchFamily="34" charset="0"/>
              <a:buChar char="•"/>
            </a:pPr>
            <a:r>
              <a:rPr lang="en-IN" sz="2400" dirty="0"/>
              <a:t>Recommendation systems using data help mitigate uncertainty and aid in crop selection before planting.</a:t>
            </a:r>
          </a:p>
          <a:p>
            <a:pPr marL="342900" lvl="0" indent="-342900">
              <a:buFont typeface="Arial" panose="020B0604020202020204" pitchFamily="34" charset="0"/>
              <a:buChar char="•"/>
            </a:pPr>
            <a:r>
              <a:rPr lang="en-IN" sz="2400" dirty="0"/>
              <a:t>The present research work is an analysis of machine learning algorithms to enhance crop recommendation in the context of precision agriculture.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145" rIns="0" bIns="0" rtlCol="0">
            <a:spAutoFit/>
          </a:bodyPr>
          <a:lstStyle/>
          <a:p>
            <a:pPr marL="34925">
              <a:lnSpc>
                <a:spcPct val="100000"/>
              </a:lnSpc>
              <a:spcBef>
                <a:spcPts val="135"/>
              </a:spcBef>
            </a:pPr>
            <a:r>
              <a:rPr sz="3200" dirty="0"/>
              <a:t>Problem</a:t>
            </a:r>
            <a:r>
              <a:rPr sz="3200" spc="-50" dirty="0"/>
              <a:t> </a:t>
            </a:r>
            <a:r>
              <a:rPr sz="3200" dirty="0"/>
              <a:t>Statement</a:t>
            </a:r>
            <a:r>
              <a:rPr sz="3200" spc="-50" dirty="0"/>
              <a:t> </a:t>
            </a:r>
            <a:r>
              <a:rPr sz="3200" dirty="0"/>
              <a:t>-</a:t>
            </a:r>
            <a:r>
              <a:rPr sz="3200" spc="-45" dirty="0"/>
              <a:t> </a:t>
            </a:r>
            <a:r>
              <a:rPr sz="3200" spc="-25" dirty="0"/>
              <a:t>WHY</a:t>
            </a:r>
            <a:endParaRPr sz="3200"/>
          </a:p>
        </p:txBody>
      </p:sp>
      <p:sp>
        <p:nvSpPr>
          <p:cNvPr id="3" name="object 3"/>
          <p:cNvSpPr txBox="1"/>
          <p:nvPr/>
        </p:nvSpPr>
        <p:spPr>
          <a:xfrm>
            <a:off x="439955" y="1024816"/>
            <a:ext cx="11299389" cy="4808368"/>
          </a:xfrm>
          <a:prstGeom prst="rect">
            <a:avLst/>
          </a:prstGeom>
        </p:spPr>
        <p:txBody>
          <a:bodyPr vert="horz" wrap="square" lIns="0" tIns="67945" rIns="0" bIns="0" rtlCol="0">
            <a:spAutoFit/>
          </a:bodyPr>
          <a:lstStyle/>
          <a:p>
            <a:pPr marL="285750" lvl="0" indent="-285750">
              <a:buFont typeface="Arial" panose="020B0604020202020204" pitchFamily="34" charset="0"/>
              <a:buChar char="•"/>
            </a:pPr>
            <a:r>
              <a:rPr lang="en-IN" sz="2800" dirty="0"/>
              <a:t>Farmers' experience is sometimes more important than a systematic study of soil and environment for the selection of the current crop </a:t>
            </a:r>
            <a:r>
              <a:rPr lang="en-US" sz="2800" dirty="0"/>
              <a:t>[4]</a:t>
            </a:r>
            <a:r>
              <a:rPr lang="en-IN" sz="2800" dirty="0"/>
              <a:t>.</a:t>
            </a:r>
          </a:p>
          <a:p>
            <a:pPr marL="285750" lvl="0" indent="-285750">
              <a:buFont typeface="Arial" panose="020B0604020202020204" pitchFamily="34" charset="0"/>
              <a:buChar char="•"/>
            </a:pPr>
            <a:r>
              <a:rPr lang="en-IN" sz="2800" dirty="0"/>
              <a:t>Crop recommendation is a challenging task in agriculture because of climatic variations, soil fertility differences and rainfall patterns </a:t>
            </a:r>
            <a:r>
              <a:rPr lang="en-US" sz="2800" dirty="0"/>
              <a:t>[5]</a:t>
            </a:r>
            <a:r>
              <a:rPr lang="en-IN" sz="2800" dirty="0"/>
              <a:t>.</a:t>
            </a:r>
          </a:p>
          <a:p>
            <a:pPr marL="285750" lvl="0" indent="-285750">
              <a:buFont typeface="Arial" panose="020B0604020202020204" pitchFamily="34" charset="0"/>
              <a:buChar char="•"/>
            </a:pPr>
            <a:r>
              <a:rPr lang="en-IN" sz="2800" dirty="0"/>
              <a:t>The wrong choice of crop leads to low productivity, loss of resources and impact on the farmers' livelihoods and sustainability </a:t>
            </a:r>
            <a:r>
              <a:rPr lang="en-US" sz="2800" dirty="0"/>
              <a:t>[6]</a:t>
            </a:r>
            <a:r>
              <a:rPr lang="en-IN" sz="2800" dirty="0"/>
              <a:t>.</a:t>
            </a:r>
          </a:p>
          <a:p>
            <a:pPr marL="285750" lvl="0" indent="-285750">
              <a:buFont typeface="Arial" panose="020B0604020202020204" pitchFamily="34" charset="0"/>
              <a:buChar char="•"/>
            </a:pPr>
            <a:r>
              <a:rPr lang="en-IN" sz="2800" dirty="0"/>
              <a:t>The available crop recommendation literature is limited in the feature engineering performed and inadequate in comparing different machine learning algorithms.</a:t>
            </a:r>
          </a:p>
          <a:p>
            <a:pPr marL="285750" lvl="0" indent="-285750">
              <a:buFont typeface="Arial" panose="020B0604020202020204" pitchFamily="34" charset="0"/>
              <a:buChar char="•"/>
            </a:pPr>
            <a:r>
              <a:rPr lang="en-IN" sz="2800" dirty="0"/>
              <a:t>Therefore, an intelligent recommendation system is required to support accurate, reliable and data-driven agricultural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273879" y="-22409"/>
            <a:ext cx="3645535" cy="574040"/>
          </a:xfrm>
          <a:prstGeom prst="rect">
            <a:avLst/>
          </a:prstGeom>
        </p:spPr>
        <p:txBody>
          <a:bodyPr vert="horz" wrap="square" lIns="0" tIns="12065" rIns="0" bIns="0" rtlCol="0">
            <a:spAutoFit/>
          </a:bodyPr>
          <a:lstStyle/>
          <a:p>
            <a:pPr marL="12700">
              <a:lnSpc>
                <a:spcPct val="100000"/>
              </a:lnSpc>
              <a:spcBef>
                <a:spcPts val="95"/>
              </a:spcBef>
            </a:pPr>
            <a:r>
              <a:rPr dirty="0">
                <a:latin typeface="Arial MT"/>
                <a:cs typeface="Arial MT"/>
              </a:rPr>
              <a:t>Objective</a:t>
            </a:r>
            <a:r>
              <a:rPr spc="-85" dirty="0">
                <a:latin typeface="Arial MT"/>
                <a:cs typeface="Arial MT"/>
              </a:rPr>
              <a:t> </a:t>
            </a:r>
            <a:r>
              <a:rPr dirty="0">
                <a:latin typeface="Arial MT"/>
                <a:cs typeface="Arial MT"/>
              </a:rPr>
              <a:t>-</a:t>
            </a:r>
            <a:r>
              <a:rPr spc="-80" dirty="0">
                <a:latin typeface="Arial MT"/>
                <a:cs typeface="Arial MT"/>
              </a:rPr>
              <a:t> </a:t>
            </a:r>
            <a:r>
              <a:rPr spc="-30" dirty="0">
                <a:latin typeface="Arial MT"/>
                <a:cs typeface="Arial MT"/>
              </a:rPr>
              <a:t>WHAT</a:t>
            </a:r>
          </a:p>
        </p:txBody>
      </p:sp>
      <p:sp>
        <p:nvSpPr>
          <p:cNvPr id="3" name="object 3"/>
          <p:cNvSpPr txBox="1">
            <a:spLocks noGrp="1"/>
          </p:cNvSpPr>
          <p:nvPr>
            <p:ph type="body" idx="1"/>
          </p:nvPr>
        </p:nvSpPr>
        <p:spPr>
          <a:xfrm>
            <a:off x="219232" y="1469876"/>
            <a:ext cx="10456545" cy="4721805"/>
          </a:xfrm>
          <a:prstGeom prst="rect">
            <a:avLst/>
          </a:prstGeom>
        </p:spPr>
        <p:txBody>
          <a:bodyPr vert="horz" wrap="square" lIns="0" tIns="12700" rIns="0" bIns="0" rtlCol="0">
            <a:spAutoFit/>
          </a:bodyPr>
          <a:lstStyle/>
          <a:p>
            <a:r>
              <a:rPr lang="en-IN" sz="1800" b="1" dirty="0"/>
              <a:t>Research Aim</a:t>
            </a:r>
            <a:endParaRPr lang="en-IN" sz="1800" dirty="0"/>
          </a:p>
          <a:p>
            <a:r>
              <a:rPr lang="en-IN" sz="1800" dirty="0"/>
              <a:t>The aim is to develop, test and improve a soil- and weather-based crop recommendation system for selecting suitable crops.</a:t>
            </a:r>
          </a:p>
          <a:p>
            <a:r>
              <a:rPr lang="en-IN" sz="1800" b="1" dirty="0"/>
              <a:t>Objectives</a:t>
            </a:r>
            <a:endParaRPr lang="en-IN" sz="1800" dirty="0"/>
          </a:p>
          <a:p>
            <a:pPr marL="285750" lvl="0" indent="-285750">
              <a:buFont typeface="Arial" panose="020B0604020202020204" pitchFamily="34" charset="0"/>
              <a:buChar char="•"/>
            </a:pPr>
            <a:r>
              <a:rPr lang="en-IN" sz="1800" dirty="0"/>
              <a:t>To investigate the relationship between soil and weather features and crop suitability within the selected dataset.</a:t>
            </a:r>
          </a:p>
          <a:p>
            <a:pPr marL="285750" lvl="0" indent="-285750">
              <a:buFont typeface="Arial" panose="020B0604020202020204" pitchFamily="34" charset="0"/>
              <a:buChar char="•"/>
            </a:pPr>
            <a:r>
              <a:rPr lang="en-IN" sz="1800" dirty="0"/>
              <a:t>To identify the soil and weather features that contribute most significantly to crop recommendation decisions.</a:t>
            </a:r>
          </a:p>
          <a:p>
            <a:pPr marL="285750" lvl="0" indent="-285750">
              <a:buFont typeface="Arial" panose="020B0604020202020204" pitchFamily="34" charset="0"/>
              <a:buChar char="•"/>
            </a:pPr>
            <a:r>
              <a:rPr lang="en-IN" sz="1800" dirty="0"/>
              <a:t>To prepare and analyse the dataset to establish a suitable foundation for crop recommendation modelling.</a:t>
            </a:r>
          </a:p>
          <a:p>
            <a:pPr marL="285750" lvl="0" indent="-285750">
              <a:buFont typeface="Arial" panose="020B0604020202020204" pitchFamily="34" charset="0"/>
              <a:buChar char="•"/>
            </a:pPr>
            <a:r>
              <a:rPr lang="en-IN" sz="1800" dirty="0"/>
              <a:t>To develop a data-driven crop recommendation approach using soil and weather features.</a:t>
            </a:r>
          </a:p>
          <a:p>
            <a:pPr marL="285750" lvl="0" indent="-285750">
              <a:buFont typeface="Arial" panose="020B0604020202020204" pitchFamily="34" charset="0"/>
              <a:buChar char="•"/>
            </a:pPr>
            <a:r>
              <a:rPr lang="en-IN" sz="1800" dirty="0"/>
              <a:t>To enhance the proposed crop recommendation approach through an appropriate improvement stage informed by the initial modelling outcomes.</a:t>
            </a:r>
          </a:p>
          <a:p>
            <a:pPr marL="285750" lvl="0" indent="-285750">
              <a:buFont typeface="Arial" panose="020B0604020202020204" pitchFamily="34" charset="0"/>
              <a:buChar char="•"/>
            </a:pPr>
            <a:r>
              <a:rPr lang="en-IN" sz="1800" dirty="0"/>
              <a:t>To evaluate the effectiveness of the proposed crop recommendation approach using suitable performance measures.</a:t>
            </a:r>
          </a:p>
          <a:p>
            <a:pPr marL="285750" lvl="0" indent="-285750">
              <a:buFont typeface="Arial" panose="020B0604020202020204" pitchFamily="34" charset="0"/>
              <a:buChar char="•"/>
            </a:pPr>
            <a:r>
              <a:rPr lang="en-IN" sz="1800" dirty="0"/>
              <a:t>To critically discuss the practical applicability, limitations and potential value of the proposed approach for agricultural decision support.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00990">
              <a:lnSpc>
                <a:spcPct val="100000"/>
              </a:lnSpc>
              <a:spcBef>
                <a:spcPts val="95"/>
              </a:spcBef>
            </a:pPr>
            <a:r>
              <a:rPr spc="-10" dirty="0"/>
              <a:t>Methodology</a:t>
            </a:r>
            <a:r>
              <a:rPr spc="-55" dirty="0"/>
              <a:t> </a:t>
            </a:r>
            <a:r>
              <a:rPr dirty="0"/>
              <a:t>-</a:t>
            </a:r>
            <a:r>
              <a:rPr spc="-50" dirty="0"/>
              <a:t> </a:t>
            </a:r>
            <a:r>
              <a:rPr spc="-25" dirty="0"/>
              <a:t>HOW</a:t>
            </a:r>
          </a:p>
        </p:txBody>
      </p:sp>
      <p:sp>
        <p:nvSpPr>
          <p:cNvPr id="3" name="object 3"/>
          <p:cNvSpPr txBox="1"/>
          <p:nvPr/>
        </p:nvSpPr>
        <p:spPr>
          <a:xfrm>
            <a:off x="48061" y="702051"/>
            <a:ext cx="7413189" cy="5552802"/>
          </a:xfrm>
          <a:prstGeom prst="rect">
            <a:avLst/>
          </a:prstGeom>
        </p:spPr>
        <p:txBody>
          <a:bodyPr vert="horz" wrap="square" lIns="0" tIns="12700" rIns="0" bIns="0" rtlCol="0">
            <a:spAutoFit/>
          </a:bodyPr>
          <a:lstStyle/>
          <a:p>
            <a:pPr marL="285750" lvl="0" indent="-285750">
              <a:buFont typeface="Arial" panose="020B0604020202020204" pitchFamily="34" charset="0"/>
              <a:buChar char="•"/>
            </a:pPr>
            <a:r>
              <a:rPr lang="en-IN" sz="2400" dirty="0"/>
              <a:t>Follow a structured machine learning workflow from collecting agricultural data to evaluating and recommending models.</a:t>
            </a:r>
          </a:p>
          <a:p>
            <a:pPr marL="285750" lvl="0" indent="-285750">
              <a:buFont typeface="Arial" panose="020B0604020202020204" pitchFamily="34" charset="0"/>
              <a:buChar char="•"/>
            </a:pPr>
            <a:r>
              <a:rPr lang="en-IN" sz="2400" dirty="0"/>
              <a:t>Display and summarise feature distributions, relationships and overall characteristics of a dataset through exploratory data analysis </a:t>
            </a:r>
            <a:r>
              <a:rPr lang="en-US" sz="2400" dirty="0"/>
              <a:t>[10]</a:t>
            </a:r>
            <a:r>
              <a:rPr lang="en-IN" sz="2400" dirty="0"/>
              <a:t>.</a:t>
            </a:r>
          </a:p>
          <a:p>
            <a:pPr marL="285750" lvl="0" indent="-285750">
              <a:buFont typeface="Arial" panose="020B0604020202020204" pitchFamily="34" charset="0"/>
              <a:buChar char="•"/>
            </a:pPr>
            <a:r>
              <a:rPr lang="en-IN" sz="2400" dirty="0"/>
              <a:t>Implement feature engineering and data pre-processing to enhance the quality of data and predictive model performance.</a:t>
            </a:r>
          </a:p>
          <a:p>
            <a:pPr marL="285750" lvl="0" indent="-285750">
              <a:buFont typeface="Arial" panose="020B0604020202020204" pitchFamily="34" charset="0"/>
              <a:buChar char="•"/>
            </a:pPr>
            <a:r>
              <a:rPr lang="en-IN" sz="2400" dirty="0"/>
              <a:t>Train several supervised machine learning algorithms with the same experimental conditions, and reasonably compare them.</a:t>
            </a:r>
          </a:p>
          <a:p>
            <a:pPr marL="285750" lvl="0" indent="-285750">
              <a:buFont typeface="Arial" panose="020B0604020202020204" pitchFamily="34" charset="0"/>
              <a:buChar char="•"/>
            </a:pPr>
            <a:r>
              <a:rPr lang="en-IN" sz="2400" dirty="0"/>
              <a:t>Test the performance of the models using typical classification measures before choosing the appropriate recommendation model.</a:t>
            </a:r>
          </a:p>
        </p:txBody>
      </p:sp>
      <p:graphicFrame>
        <p:nvGraphicFramePr>
          <p:cNvPr id="4" name="Table 3">
            <a:extLst>
              <a:ext uri="{FF2B5EF4-FFF2-40B4-BE49-F238E27FC236}">
                <a16:creationId xmlns:a16="http://schemas.microsoft.com/office/drawing/2014/main" id="{0E19AFFF-E68B-BDFE-8970-3097277BA959}"/>
              </a:ext>
            </a:extLst>
          </p:cNvPr>
          <p:cNvGraphicFramePr>
            <a:graphicFrameLocks noGrp="1"/>
          </p:cNvGraphicFramePr>
          <p:nvPr>
            <p:extLst>
              <p:ext uri="{D42A27DB-BD31-4B8C-83A1-F6EECF244321}">
                <p14:modId xmlns:p14="http://schemas.microsoft.com/office/powerpoint/2010/main" val="2706337661"/>
              </p:ext>
            </p:extLst>
          </p:nvPr>
        </p:nvGraphicFramePr>
        <p:xfrm>
          <a:off x="8108949" y="702051"/>
          <a:ext cx="3276600" cy="2783336"/>
        </p:xfrm>
        <a:graphic>
          <a:graphicData uri="http://schemas.openxmlformats.org/drawingml/2006/table">
            <a:tbl>
              <a:tblPr firstRow="1" firstCol="1" bandRow="1">
                <a:tableStyleId>{E269D01E-BC32-4049-B463-5C60D7B0CCD2}</a:tableStyleId>
              </a:tblPr>
              <a:tblGrid>
                <a:gridCol w="1203649">
                  <a:extLst>
                    <a:ext uri="{9D8B030D-6E8A-4147-A177-3AD203B41FA5}">
                      <a16:colId xmlns:a16="http://schemas.microsoft.com/office/drawing/2014/main" val="1760868630"/>
                    </a:ext>
                  </a:extLst>
                </a:gridCol>
                <a:gridCol w="2072951">
                  <a:extLst>
                    <a:ext uri="{9D8B030D-6E8A-4147-A177-3AD203B41FA5}">
                      <a16:colId xmlns:a16="http://schemas.microsoft.com/office/drawing/2014/main" val="47469692"/>
                    </a:ext>
                  </a:extLst>
                </a:gridCol>
              </a:tblGrid>
              <a:tr h="362789">
                <a:tc>
                  <a:txBody>
                    <a:bodyPr/>
                    <a:lstStyle/>
                    <a:p>
                      <a:pPr algn="just">
                        <a:lnSpc>
                          <a:spcPct val="150000"/>
                        </a:lnSpc>
                        <a:spcAft>
                          <a:spcPts val="800"/>
                        </a:spcAft>
                        <a:buNone/>
                      </a:pPr>
                      <a:r>
                        <a:rPr lang="en-IN" sz="1200" kern="100">
                          <a:effectLst/>
                        </a:rPr>
                        <a:t>Dataset Information</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tc>
                  <a:txBody>
                    <a:bodyPr/>
                    <a:lstStyle/>
                    <a:p>
                      <a:pPr algn="just">
                        <a:lnSpc>
                          <a:spcPct val="150000"/>
                        </a:lnSpc>
                        <a:spcAft>
                          <a:spcPts val="800"/>
                        </a:spcAft>
                        <a:buNone/>
                      </a:pPr>
                      <a:r>
                        <a:rPr lang="en-IN" sz="1200" kern="100" dirty="0">
                          <a:effectLst/>
                        </a:rPr>
                        <a:t>Value</a:t>
                      </a:r>
                      <a:endParaRPr lang="en-IN" sz="1200" kern="100" dirty="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3463029798"/>
                  </a:ext>
                </a:extLst>
              </a:tr>
              <a:tr h="171170">
                <a:tc>
                  <a:txBody>
                    <a:bodyPr/>
                    <a:lstStyle/>
                    <a:p>
                      <a:pPr algn="just">
                        <a:lnSpc>
                          <a:spcPct val="150000"/>
                        </a:lnSpc>
                        <a:spcAft>
                          <a:spcPts val="800"/>
                        </a:spcAft>
                        <a:buNone/>
                      </a:pPr>
                      <a:r>
                        <a:rPr lang="en-IN" sz="1200" kern="100">
                          <a:effectLst/>
                        </a:rPr>
                        <a:t>Dataset</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tc>
                  <a:txBody>
                    <a:bodyPr/>
                    <a:lstStyle/>
                    <a:p>
                      <a:pPr algn="just">
                        <a:lnSpc>
                          <a:spcPct val="150000"/>
                        </a:lnSpc>
                        <a:spcAft>
                          <a:spcPts val="800"/>
                        </a:spcAft>
                        <a:buNone/>
                      </a:pPr>
                      <a:r>
                        <a:rPr lang="en-IN" sz="1200" kern="100">
                          <a:effectLst/>
                        </a:rPr>
                        <a:t>Crop Recommendation</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111555062"/>
                  </a:ext>
                </a:extLst>
              </a:tr>
              <a:tr h="171170">
                <a:tc>
                  <a:txBody>
                    <a:bodyPr/>
                    <a:lstStyle/>
                    <a:p>
                      <a:pPr algn="just">
                        <a:lnSpc>
                          <a:spcPct val="150000"/>
                        </a:lnSpc>
                        <a:spcAft>
                          <a:spcPts val="800"/>
                        </a:spcAft>
                        <a:buNone/>
                      </a:pPr>
                      <a:r>
                        <a:rPr lang="en-IN" sz="1200" kern="100">
                          <a:effectLst/>
                        </a:rPr>
                        <a:t>Records</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tc>
                  <a:txBody>
                    <a:bodyPr/>
                    <a:lstStyle/>
                    <a:p>
                      <a:pPr algn="just">
                        <a:lnSpc>
                          <a:spcPct val="150000"/>
                        </a:lnSpc>
                        <a:spcAft>
                          <a:spcPts val="800"/>
                        </a:spcAft>
                        <a:buNone/>
                      </a:pPr>
                      <a:r>
                        <a:rPr lang="en-IN" sz="1200" kern="100">
                          <a:effectLst/>
                        </a:rPr>
                        <a:t>2,200</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2001721315"/>
                  </a:ext>
                </a:extLst>
              </a:tr>
              <a:tr h="171170">
                <a:tc>
                  <a:txBody>
                    <a:bodyPr/>
                    <a:lstStyle/>
                    <a:p>
                      <a:pPr algn="just">
                        <a:lnSpc>
                          <a:spcPct val="150000"/>
                        </a:lnSpc>
                        <a:spcAft>
                          <a:spcPts val="800"/>
                        </a:spcAft>
                        <a:buNone/>
                      </a:pPr>
                      <a:r>
                        <a:rPr lang="en-IN" sz="1200" kern="100">
                          <a:effectLst/>
                        </a:rPr>
                        <a:t>Crop Classes</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tc>
                  <a:txBody>
                    <a:bodyPr/>
                    <a:lstStyle/>
                    <a:p>
                      <a:pPr algn="just">
                        <a:lnSpc>
                          <a:spcPct val="150000"/>
                        </a:lnSpc>
                        <a:spcAft>
                          <a:spcPts val="800"/>
                        </a:spcAft>
                        <a:buNone/>
                      </a:pPr>
                      <a:r>
                        <a:rPr lang="en-IN" sz="1200" kern="100">
                          <a:effectLst/>
                        </a:rPr>
                        <a:t>22</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553146148"/>
                  </a:ext>
                </a:extLst>
              </a:tr>
              <a:tr h="171170">
                <a:tc>
                  <a:txBody>
                    <a:bodyPr/>
                    <a:lstStyle/>
                    <a:p>
                      <a:pPr algn="just">
                        <a:lnSpc>
                          <a:spcPct val="150000"/>
                        </a:lnSpc>
                        <a:spcAft>
                          <a:spcPts val="800"/>
                        </a:spcAft>
                        <a:buNone/>
                      </a:pPr>
                      <a:r>
                        <a:rPr lang="en-IN" sz="1200" kern="100">
                          <a:effectLst/>
                        </a:rPr>
                        <a:t>Original Features</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tc>
                  <a:txBody>
                    <a:bodyPr/>
                    <a:lstStyle/>
                    <a:p>
                      <a:pPr algn="just">
                        <a:lnSpc>
                          <a:spcPct val="150000"/>
                        </a:lnSpc>
                        <a:spcAft>
                          <a:spcPts val="800"/>
                        </a:spcAft>
                        <a:buNone/>
                      </a:pPr>
                      <a:r>
                        <a:rPr lang="en-IN" sz="1200" kern="100">
                          <a:effectLst/>
                        </a:rPr>
                        <a:t>7</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2412324874"/>
                  </a:ext>
                </a:extLst>
              </a:tr>
              <a:tr h="362789">
                <a:tc>
                  <a:txBody>
                    <a:bodyPr/>
                    <a:lstStyle/>
                    <a:p>
                      <a:pPr algn="just">
                        <a:lnSpc>
                          <a:spcPct val="150000"/>
                        </a:lnSpc>
                        <a:spcAft>
                          <a:spcPts val="800"/>
                        </a:spcAft>
                        <a:buNone/>
                      </a:pPr>
                      <a:r>
                        <a:rPr lang="en-IN" sz="1200" kern="100">
                          <a:effectLst/>
                        </a:rPr>
                        <a:t>Engineered Features</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tc>
                  <a:txBody>
                    <a:bodyPr/>
                    <a:lstStyle/>
                    <a:p>
                      <a:pPr algn="just">
                        <a:lnSpc>
                          <a:spcPct val="150000"/>
                        </a:lnSpc>
                        <a:spcAft>
                          <a:spcPts val="800"/>
                        </a:spcAft>
                        <a:buNone/>
                      </a:pPr>
                      <a:r>
                        <a:rPr lang="en-IN" sz="1200" kern="100">
                          <a:effectLst/>
                        </a:rPr>
                        <a:t>7</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3485382459"/>
                  </a:ext>
                </a:extLst>
              </a:tr>
              <a:tr h="171170">
                <a:tc>
                  <a:txBody>
                    <a:bodyPr/>
                    <a:lstStyle/>
                    <a:p>
                      <a:pPr algn="just">
                        <a:lnSpc>
                          <a:spcPct val="150000"/>
                        </a:lnSpc>
                        <a:spcAft>
                          <a:spcPts val="800"/>
                        </a:spcAft>
                        <a:buNone/>
                      </a:pPr>
                      <a:r>
                        <a:rPr lang="en-IN" sz="1200" kern="100">
                          <a:effectLst/>
                        </a:rPr>
                        <a:t>Target Variable</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tc>
                  <a:txBody>
                    <a:bodyPr/>
                    <a:lstStyle/>
                    <a:p>
                      <a:pPr algn="just">
                        <a:lnSpc>
                          <a:spcPct val="150000"/>
                        </a:lnSpc>
                        <a:spcAft>
                          <a:spcPts val="800"/>
                        </a:spcAft>
                        <a:buNone/>
                      </a:pPr>
                      <a:r>
                        <a:rPr lang="en-IN" sz="1200" kern="100">
                          <a:effectLst/>
                        </a:rPr>
                        <a:t>Crop Label</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685793245"/>
                  </a:ext>
                </a:extLst>
              </a:tr>
              <a:tr h="171170">
                <a:tc>
                  <a:txBody>
                    <a:bodyPr/>
                    <a:lstStyle/>
                    <a:p>
                      <a:pPr algn="just">
                        <a:lnSpc>
                          <a:spcPct val="150000"/>
                        </a:lnSpc>
                        <a:spcAft>
                          <a:spcPts val="800"/>
                        </a:spcAft>
                        <a:buNone/>
                      </a:pPr>
                      <a:r>
                        <a:rPr lang="en-IN" sz="1200" kern="100">
                          <a:effectLst/>
                        </a:rPr>
                        <a:t>Task</a:t>
                      </a:r>
                      <a:endParaRPr lang="en-IN" sz="1200" kern="10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tc>
                  <a:txBody>
                    <a:bodyPr/>
                    <a:lstStyle/>
                    <a:p>
                      <a:pPr algn="just">
                        <a:lnSpc>
                          <a:spcPct val="150000"/>
                        </a:lnSpc>
                        <a:spcAft>
                          <a:spcPts val="800"/>
                        </a:spcAft>
                        <a:buNone/>
                      </a:pPr>
                      <a:r>
                        <a:rPr lang="en-IN" sz="1200" kern="100" dirty="0">
                          <a:effectLst/>
                        </a:rPr>
                        <a:t>Multi-Class Classification</a:t>
                      </a:r>
                      <a:endParaRPr lang="en-IN" sz="1200" kern="100" dirty="0">
                        <a:effectLst/>
                        <a:latin typeface="Times New Roman" panose="02020603050405020304" pitchFamily="18" charset="0"/>
                        <a:ea typeface="DengXian" panose="02010600030101010101" pitchFamily="2" charset="-122"/>
                        <a:cs typeface="Cordia New" panose="020B0304020202020204" pitchFamily="34" charset="-34"/>
                      </a:endParaRPr>
                    </a:p>
                  </a:txBody>
                  <a:tcPr marL="68580" marR="68580" marT="0" marB="0"/>
                </a:tc>
                <a:extLst>
                  <a:ext uri="{0D108BD9-81ED-4DB2-BD59-A6C34878D82A}">
                    <a16:rowId xmlns:a16="http://schemas.microsoft.com/office/drawing/2014/main" val="1835356147"/>
                  </a:ext>
                </a:extLst>
              </a:tr>
            </a:tbl>
          </a:graphicData>
        </a:graphic>
      </p:graphicFrame>
      <p:pic>
        <p:nvPicPr>
          <p:cNvPr id="5" name="Picture 4">
            <a:extLst>
              <a:ext uri="{FF2B5EF4-FFF2-40B4-BE49-F238E27FC236}">
                <a16:creationId xmlns:a16="http://schemas.microsoft.com/office/drawing/2014/main" id="{52E1FBD7-E205-CC1D-82C0-5E19D69F4B3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28050" y="3645381"/>
            <a:ext cx="2210354" cy="2965322"/>
          </a:xfrm>
          <a:prstGeom prst="rect">
            <a:avLst/>
          </a:prstGeom>
          <a:noFill/>
          <a:ln>
            <a:noFill/>
          </a:ln>
        </p:spPr>
      </p:pic>
      <p:sp>
        <p:nvSpPr>
          <p:cNvPr id="7" name="TextBox 6">
            <a:extLst>
              <a:ext uri="{FF2B5EF4-FFF2-40B4-BE49-F238E27FC236}">
                <a16:creationId xmlns:a16="http://schemas.microsoft.com/office/drawing/2014/main" id="{C4BB0BBF-F385-3E1B-1C8D-BAE0628887E9}"/>
              </a:ext>
            </a:extLst>
          </p:cNvPr>
          <p:cNvSpPr txBox="1"/>
          <p:nvPr/>
        </p:nvSpPr>
        <p:spPr>
          <a:xfrm>
            <a:off x="7994650" y="6521882"/>
            <a:ext cx="3063772"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Workflow</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131153" y="-3379"/>
            <a:ext cx="3927475" cy="574040"/>
          </a:xfrm>
          <a:prstGeom prst="rect">
            <a:avLst/>
          </a:prstGeom>
        </p:spPr>
        <p:txBody>
          <a:bodyPr vert="horz" wrap="square" lIns="0" tIns="12065" rIns="0" bIns="0" rtlCol="0">
            <a:spAutoFit/>
          </a:bodyPr>
          <a:lstStyle/>
          <a:p>
            <a:pPr marL="12700">
              <a:lnSpc>
                <a:spcPct val="100000"/>
              </a:lnSpc>
              <a:spcBef>
                <a:spcPts val="95"/>
              </a:spcBef>
            </a:pPr>
            <a:r>
              <a:rPr dirty="0"/>
              <a:t>Project</a:t>
            </a:r>
            <a:r>
              <a:rPr spc="-150" dirty="0"/>
              <a:t> </a:t>
            </a:r>
            <a:r>
              <a:rPr spc="-10" dirty="0"/>
              <a:t>Management</a:t>
            </a:r>
          </a:p>
        </p:txBody>
      </p:sp>
      <p:pic>
        <p:nvPicPr>
          <p:cNvPr id="4" name="Picture 3">
            <a:extLst>
              <a:ext uri="{FF2B5EF4-FFF2-40B4-BE49-F238E27FC236}">
                <a16:creationId xmlns:a16="http://schemas.microsoft.com/office/drawing/2014/main" id="{23B31614-77DF-84B0-1D3B-B3C4FDD3A1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32050" y="931264"/>
            <a:ext cx="8382000" cy="5198854"/>
          </a:xfrm>
          <a:prstGeom prst="rect">
            <a:avLst/>
          </a:prstGeom>
          <a:noFill/>
          <a:ln>
            <a:noFill/>
          </a:ln>
        </p:spPr>
      </p:pic>
      <p:sp>
        <p:nvSpPr>
          <p:cNvPr id="6" name="TextBox 5">
            <a:extLst>
              <a:ext uri="{FF2B5EF4-FFF2-40B4-BE49-F238E27FC236}">
                <a16:creationId xmlns:a16="http://schemas.microsoft.com/office/drawing/2014/main" id="{FAEC6BF2-0B90-FE89-437D-DAB41786096F}"/>
              </a:ext>
            </a:extLst>
          </p:cNvPr>
          <p:cNvSpPr txBox="1"/>
          <p:nvPr/>
        </p:nvSpPr>
        <p:spPr>
          <a:xfrm>
            <a:off x="3346450" y="6322662"/>
            <a:ext cx="6091084"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2</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Gantt Chart</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596265">
              <a:lnSpc>
                <a:spcPct val="100000"/>
              </a:lnSpc>
              <a:spcBef>
                <a:spcPts val="95"/>
              </a:spcBef>
            </a:pPr>
            <a:r>
              <a:rPr spc="-10" dirty="0"/>
              <a:t>Literature</a:t>
            </a:r>
            <a:r>
              <a:rPr spc="-150" dirty="0"/>
              <a:t> </a:t>
            </a:r>
            <a:r>
              <a:rPr spc="-10" dirty="0"/>
              <a:t>Review</a:t>
            </a:r>
          </a:p>
        </p:txBody>
      </p:sp>
      <p:sp>
        <p:nvSpPr>
          <p:cNvPr id="3" name="object 3"/>
          <p:cNvSpPr txBox="1"/>
          <p:nvPr/>
        </p:nvSpPr>
        <p:spPr>
          <a:xfrm>
            <a:off x="755650" y="914400"/>
            <a:ext cx="11146989" cy="4444807"/>
          </a:xfrm>
          <a:prstGeom prst="rect">
            <a:avLst/>
          </a:prstGeom>
        </p:spPr>
        <p:txBody>
          <a:bodyPr vert="horz" wrap="square" lIns="0" tIns="12700" rIns="0" bIns="0" rtlCol="0">
            <a:spAutoFit/>
          </a:bodyPr>
          <a:lstStyle/>
          <a:p>
            <a:pPr marL="285750" lvl="0" indent="-285750">
              <a:buFont typeface="Arial" panose="020B0604020202020204" pitchFamily="34" charset="0"/>
              <a:buChar char="•"/>
            </a:pPr>
            <a:r>
              <a:rPr lang="en-IN" sz="2400" dirty="0"/>
              <a:t>The machine learning model was found to be helpful in the improvement of crop recommendations in past studies by using soil nutrients and climatic conditions </a:t>
            </a:r>
            <a:r>
              <a:rPr lang="en-US" sz="2400" dirty="0"/>
              <a:t>[7]</a:t>
            </a:r>
            <a:r>
              <a:rPr lang="en-IN" sz="2400" dirty="0"/>
              <a:t>.</a:t>
            </a:r>
          </a:p>
          <a:p>
            <a:pPr marL="285750" lvl="0" indent="-285750">
              <a:buFont typeface="Arial" panose="020B0604020202020204" pitchFamily="34" charset="0"/>
              <a:buChar char="•"/>
            </a:pPr>
            <a:r>
              <a:rPr lang="en-IN" sz="2400" dirty="0"/>
              <a:t>Random Forest and Decision Tree were always more successful than the statistical recommendation methods.</a:t>
            </a:r>
          </a:p>
          <a:p>
            <a:pPr marL="285750" lvl="0" indent="-285750">
              <a:buFont typeface="Arial" panose="020B0604020202020204" pitchFamily="34" charset="0"/>
              <a:buChar char="•"/>
            </a:pPr>
            <a:r>
              <a:rPr lang="en-IN" sz="2400" dirty="0"/>
              <a:t>Feature engineering can capture meaningful relations between the agricultural and environmental variables which can improve the model learning </a:t>
            </a:r>
            <a:r>
              <a:rPr lang="en-US" sz="2400" dirty="0"/>
              <a:t>[8]</a:t>
            </a:r>
            <a:r>
              <a:rPr lang="en-IN" sz="2400" dirty="0"/>
              <a:t>.</a:t>
            </a:r>
          </a:p>
          <a:p>
            <a:pPr marL="285750" lvl="0" indent="-285750">
              <a:buFont typeface="Arial" panose="020B0604020202020204" pitchFamily="34" charset="0"/>
              <a:buChar char="•"/>
            </a:pPr>
            <a:r>
              <a:rPr lang="en-IN" sz="2400" dirty="0"/>
              <a:t>Intelligent decision-support systems are becoming essential tools in precision agriculture, as they assist in making informed decisions to enhance productivity and resource utilisation </a:t>
            </a:r>
            <a:r>
              <a:rPr lang="en-US" sz="2400" dirty="0"/>
              <a:t>[9]</a:t>
            </a:r>
            <a:r>
              <a:rPr lang="en-IN" sz="2400" dirty="0"/>
              <a:t>.</a:t>
            </a:r>
          </a:p>
          <a:p>
            <a:pPr marL="285750" lvl="0" indent="-285750">
              <a:buFont typeface="Arial" panose="020B0604020202020204" pitchFamily="34" charset="0"/>
              <a:buChar char="•"/>
            </a:pPr>
            <a:r>
              <a:rPr lang="en-IN" sz="2400" dirty="0"/>
              <a:t>The majority of studies have suggested that several environmental factors should be combined for a reliable prediction of crop suitability.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C2FA8-A85E-2725-2B74-1036A10C0777}"/>
              </a:ext>
            </a:extLst>
          </p:cNvPr>
          <p:cNvSpPr>
            <a:spLocks noGrp="1"/>
          </p:cNvSpPr>
          <p:nvPr>
            <p:ph type="title"/>
          </p:nvPr>
        </p:nvSpPr>
        <p:spPr>
          <a:xfrm>
            <a:off x="3346450" y="9832"/>
            <a:ext cx="6095448" cy="1107996"/>
          </a:xfrm>
        </p:spPr>
        <p:txBody>
          <a:bodyPr/>
          <a:lstStyle/>
          <a:p>
            <a:r>
              <a:rPr lang="en-IN" dirty="0"/>
              <a:t>Challenges &amp; Risk Management</a:t>
            </a:r>
          </a:p>
        </p:txBody>
      </p:sp>
      <p:sp>
        <p:nvSpPr>
          <p:cNvPr id="3" name="Text Placeholder 2">
            <a:extLst>
              <a:ext uri="{FF2B5EF4-FFF2-40B4-BE49-F238E27FC236}">
                <a16:creationId xmlns:a16="http://schemas.microsoft.com/office/drawing/2014/main" id="{DD1B4ABD-6927-6FAA-4764-D986A7D51371}"/>
              </a:ext>
            </a:extLst>
          </p:cNvPr>
          <p:cNvSpPr>
            <a:spLocks noGrp="1"/>
          </p:cNvSpPr>
          <p:nvPr>
            <p:ph type="body" idx="1"/>
          </p:nvPr>
        </p:nvSpPr>
        <p:spPr>
          <a:xfrm>
            <a:off x="298450" y="914400"/>
            <a:ext cx="10456545" cy="5539978"/>
          </a:xfrm>
        </p:spPr>
        <p:txBody>
          <a:bodyPr/>
          <a:lstStyle/>
          <a:p>
            <a:r>
              <a:rPr lang="en-IN" sz="2000" b="1" dirty="0"/>
              <a:t>Challenges</a:t>
            </a:r>
            <a:endParaRPr lang="en-IN" sz="2000" dirty="0"/>
          </a:p>
          <a:p>
            <a:pPr marL="342900" lvl="0" indent="-342900">
              <a:buFont typeface="Arial" panose="020B0604020202020204" pitchFamily="34" charset="0"/>
              <a:buChar char="•"/>
            </a:pPr>
            <a:r>
              <a:rPr lang="en-IN" sz="2000" dirty="0"/>
              <a:t>The choice of the most appropriate machine learning algorithm involved many experiments and comparisons.</a:t>
            </a:r>
          </a:p>
          <a:p>
            <a:pPr marL="342900" lvl="0" indent="-342900">
              <a:buFont typeface="Arial" panose="020B0604020202020204" pitchFamily="34" charset="0"/>
              <a:buChar char="•"/>
            </a:pPr>
            <a:r>
              <a:rPr lang="en-IN" sz="2000" dirty="0"/>
              <a:t>A thoughtful process of analysing and understanding the domain was needed to engineer meaningful features in the agricultural domain without redundancy </a:t>
            </a:r>
            <a:r>
              <a:rPr lang="en-US" sz="2000" dirty="0"/>
              <a:t>[12]</a:t>
            </a:r>
            <a:r>
              <a:rPr lang="en-IN" sz="2000" dirty="0"/>
              <a:t>.</a:t>
            </a:r>
          </a:p>
          <a:p>
            <a:pPr marL="342900" lvl="0" indent="-342900">
              <a:buFont typeface="Arial" panose="020B0604020202020204" pitchFamily="34" charset="0"/>
              <a:buChar char="•"/>
            </a:pPr>
            <a:r>
              <a:rPr lang="en-IN" sz="2000" dirty="0"/>
              <a:t>Hyperparameter tuning added to the complexity of computations and necessitated further experimentation to tune the model performance </a:t>
            </a:r>
            <a:r>
              <a:rPr lang="en-US" sz="2000" dirty="0"/>
              <a:t>[13]</a:t>
            </a:r>
            <a:r>
              <a:rPr lang="en-IN" sz="2000" dirty="0"/>
              <a:t>.</a:t>
            </a:r>
          </a:p>
          <a:p>
            <a:pPr marL="342900" lvl="0" indent="-342900">
              <a:buFont typeface="Arial" panose="020B0604020202020204" pitchFamily="34" charset="0"/>
              <a:buChar char="•"/>
            </a:pPr>
            <a:r>
              <a:rPr lang="en-IN" sz="2000" dirty="0"/>
              <a:t>It was necessary to have the same preprocessing and evaluation process for all models in the implementation phase to ensure fair comparison.</a:t>
            </a:r>
          </a:p>
          <a:p>
            <a:r>
              <a:rPr lang="en-IN" sz="2000" b="1" dirty="0"/>
              <a:t>Risk Mitigation</a:t>
            </a:r>
            <a:endParaRPr lang="en-IN" sz="2000" dirty="0"/>
          </a:p>
          <a:p>
            <a:pPr marL="342900" lvl="0" indent="-342900">
              <a:buFont typeface="Arial" panose="020B0604020202020204" pitchFamily="34" charset="0"/>
              <a:buChar char="•"/>
            </a:pPr>
            <a:r>
              <a:rPr lang="en-IN" sz="2000" dirty="0"/>
              <a:t>Used cross-validation for better reliability and to minimise overfitting risk </a:t>
            </a:r>
            <a:r>
              <a:rPr lang="en-US" sz="2000" dirty="0"/>
              <a:t>[14]</a:t>
            </a:r>
            <a:r>
              <a:rPr lang="en-IN" sz="2000" dirty="0"/>
              <a:t>.</a:t>
            </a:r>
          </a:p>
          <a:p>
            <a:pPr marL="342900" lvl="0" indent="-342900">
              <a:buFont typeface="Arial" panose="020B0604020202020204" pitchFamily="34" charset="0"/>
              <a:buChar char="•"/>
            </a:pPr>
            <a:r>
              <a:rPr lang="en-IN" sz="2000" dirty="0"/>
              <a:t>Feature scaling (normalisation) before training machine learning models, using standardised numerical features.</a:t>
            </a:r>
          </a:p>
          <a:p>
            <a:pPr marL="342900" lvl="0" indent="-342900">
              <a:buFont typeface="Arial" panose="020B0604020202020204" pitchFamily="34" charset="0"/>
              <a:buChar char="•"/>
            </a:pPr>
            <a:r>
              <a:rPr lang="en-IN" sz="2000" dirty="0"/>
              <a:t>Took advice from the current literature to support methodological choices and the selection of algorithms.</a:t>
            </a:r>
          </a:p>
          <a:p>
            <a:pPr marL="342900" lvl="0" indent="-342900">
              <a:buFont typeface="Arial" panose="020B0604020202020204" pitchFamily="34" charset="0"/>
              <a:buChar char="•"/>
            </a:pPr>
            <a:r>
              <a:rPr lang="en-IN" sz="2000" dirty="0"/>
              <a:t>Used the same evaluation environment and systematic parameter tuning for all machine learning models.</a:t>
            </a:r>
          </a:p>
          <a:p>
            <a:endParaRPr lang="en-IN" sz="2000" dirty="0"/>
          </a:p>
        </p:txBody>
      </p:sp>
    </p:spTree>
    <p:extLst>
      <p:ext uri="{BB962C8B-B14F-4D97-AF65-F5344CB8AC3E}">
        <p14:creationId xmlns:p14="http://schemas.microsoft.com/office/powerpoint/2010/main" val="3042268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A7CCC-C614-D5C1-92D7-79D1CD189376}"/>
              </a:ext>
            </a:extLst>
          </p:cNvPr>
          <p:cNvSpPr>
            <a:spLocks noGrp="1"/>
          </p:cNvSpPr>
          <p:nvPr>
            <p:ph type="title"/>
          </p:nvPr>
        </p:nvSpPr>
        <p:spPr>
          <a:xfrm>
            <a:off x="4489450" y="0"/>
            <a:ext cx="4418494" cy="553998"/>
          </a:xfrm>
        </p:spPr>
        <p:txBody>
          <a:bodyPr/>
          <a:lstStyle/>
          <a:p>
            <a:r>
              <a:rPr lang="en-IN" dirty="0"/>
              <a:t>Progress So Far</a:t>
            </a:r>
          </a:p>
        </p:txBody>
      </p:sp>
      <p:sp>
        <p:nvSpPr>
          <p:cNvPr id="3" name="Text Placeholder 2">
            <a:extLst>
              <a:ext uri="{FF2B5EF4-FFF2-40B4-BE49-F238E27FC236}">
                <a16:creationId xmlns:a16="http://schemas.microsoft.com/office/drawing/2014/main" id="{D756E396-7F4A-E9A6-C2B2-85D78765AF41}"/>
              </a:ext>
            </a:extLst>
          </p:cNvPr>
          <p:cNvSpPr>
            <a:spLocks noGrp="1"/>
          </p:cNvSpPr>
          <p:nvPr>
            <p:ph type="body" idx="1"/>
          </p:nvPr>
        </p:nvSpPr>
        <p:spPr>
          <a:xfrm>
            <a:off x="755650" y="1066800"/>
            <a:ext cx="10456545" cy="4555093"/>
          </a:xfrm>
        </p:spPr>
        <p:txBody>
          <a:bodyPr/>
          <a:lstStyle/>
          <a:p>
            <a:r>
              <a:rPr lang="en-IN" sz="2400" b="1" dirty="0"/>
              <a:t>Completed Work</a:t>
            </a:r>
            <a:endParaRPr lang="en-IN" sz="2400" dirty="0"/>
          </a:p>
          <a:p>
            <a:pPr marL="342900" lvl="0" indent="-342900">
              <a:buFont typeface="Arial" panose="020B0604020202020204" pitchFamily="34" charset="0"/>
              <a:buChar char="•"/>
            </a:pPr>
            <a:r>
              <a:rPr lang="en-IN" sz="2400" dirty="0"/>
              <a:t>Adequately conducted literature review and identified gaps in existing crop recommendation studies.</a:t>
            </a:r>
          </a:p>
          <a:p>
            <a:pPr marL="342900" lvl="0" indent="-342900">
              <a:buFont typeface="Arial" panose="020B0604020202020204" pitchFamily="34" charset="0"/>
              <a:buChar char="•"/>
            </a:pPr>
            <a:r>
              <a:rPr lang="en-IN" sz="2400" dirty="0"/>
              <a:t>Collected, validated and prepared the agricultural dataset for machine learning implementation and experimentation.</a:t>
            </a:r>
          </a:p>
          <a:p>
            <a:pPr marL="342900" lvl="0" indent="-342900">
              <a:buFont typeface="Arial" panose="020B0604020202020204" pitchFamily="34" charset="0"/>
              <a:buChar char="•"/>
            </a:pPr>
            <a:r>
              <a:rPr lang="en-IN" sz="2400" dirty="0"/>
              <a:t>Conducted exploratory data analysis to learn about the distribution and relationships between the agricultural variables </a:t>
            </a:r>
            <a:r>
              <a:rPr lang="en-US" sz="2400" dirty="0"/>
              <a:t>[11]</a:t>
            </a:r>
            <a:r>
              <a:rPr lang="en-IN" sz="2400" dirty="0"/>
              <a:t>.</a:t>
            </a:r>
          </a:p>
          <a:p>
            <a:pPr marL="342900" lvl="0" indent="-342900">
              <a:buFont typeface="Arial" panose="020B0604020202020204" pitchFamily="34" charset="0"/>
              <a:buChar char="•"/>
            </a:pPr>
            <a:r>
              <a:rPr lang="en-IN" sz="2400" dirty="0"/>
              <a:t>Designed extra agricultural structures to increase predictive ability and machine learning performance.</a:t>
            </a:r>
          </a:p>
          <a:p>
            <a:pPr marL="342900" lvl="0" indent="-342900">
              <a:buFont typeface="Arial" panose="020B0604020202020204" pitchFamily="34" charset="0"/>
              <a:buChar char="•"/>
            </a:pPr>
            <a:r>
              <a:rPr lang="en-IN" sz="2400" dirty="0"/>
              <a:t>Launched supervised machine learning algorithms for comparative performance evaluation.</a:t>
            </a:r>
          </a:p>
          <a:p>
            <a:endParaRPr lang="en-IN" dirty="0"/>
          </a:p>
        </p:txBody>
      </p:sp>
    </p:spTree>
    <p:extLst>
      <p:ext uri="{BB962C8B-B14F-4D97-AF65-F5344CB8AC3E}">
        <p14:creationId xmlns:p14="http://schemas.microsoft.com/office/powerpoint/2010/main" val="441220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196842" y="23262"/>
            <a:ext cx="1800225" cy="518795"/>
          </a:xfrm>
          <a:prstGeom prst="rect">
            <a:avLst/>
          </a:prstGeom>
        </p:spPr>
        <p:txBody>
          <a:bodyPr vert="horz" wrap="square" lIns="0" tIns="17145" rIns="0" bIns="0" rtlCol="0">
            <a:spAutoFit/>
          </a:bodyPr>
          <a:lstStyle/>
          <a:p>
            <a:pPr marL="12700">
              <a:lnSpc>
                <a:spcPct val="100000"/>
              </a:lnSpc>
              <a:spcBef>
                <a:spcPts val="135"/>
              </a:spcBef>
            </a:pPr>
            <a:r>
              <a:rPr sz="3200" dirty="0"/>
              <a:t>Next</a:t>
            </a:r>
            <a:r>
              <a:rPr sz="3200" spc="5" dirty="0"/>
              <a:t> </a:t>
            </a:r>
            <a:r>
              <a:rPr sz="3200" spc="-20" dirty="0"/>
              <a:t>Steps</a:t>
            </a:r>
            <a:endParaRPr sz="3200"/>
          </a:p>
        </p:txBody>
      </p:sp>
      <p:sp>
        <p:nvSpPr>
          <p:cNvPr id="3" name="object 3"/>
          <p:cNvSpPr txBox="1"/>
          <p:nvPr/>
        </p:nvSpPr>
        <p:spPr>
          <a:xfrm>
            <a:off x="534035" y="914400"/>
            <a:ext cx="11111230" cy="4553170"/>
          </a:xfrm>
          <a:prstGeom prst="rect">
            <a:avLst/>
          </a:prstGeom>
        </p:spPr>
        <p:txBody>
          <a:bodyPr vert="horz" wrap="square" lIns="0" tIns="241935" rIns="0" bIns="0" rtlCol="0">
            <a:spAutoFit/>
          </a:bodyPr>
          <a:lstStyle/>
          <a:p>
            <a:pPr marL="285750" lvl="0" indent="-285750">
              <a:buFont typeface="Arial" panose="020B0604020202020204" pitchFamily="34" charset="0"/>
              <a:buChar char="•"/>
            </a:pPr>
            <a:r>
              <a:rPr lang="en-IN" sz="2800" dirty="0"/>
              <a:t>Comprehensive comparative study of all machine learning algorithms using classification performance measures.</a:t>
            </a:r>
          </a:p>
          <a:p>
            <a:pPr marL="285750" lvl="0" indent="-285750">
              <a:buFont typeface="Arial" panose="020B0604020202020204" pitchFamily="34" charset="0"/>
              <a:buChar char="•"/>
            </a:pPr>
            <a:r>
              <a:rPr lang="en-IN" sz="2800" dirty="0"/>
              <a:t>Define the accuracy, robustness and practical applicability of the recommendation model, and find the best-performing model.</a:t>
            </a:r>
          </a:p>
          <a:p>
            <a:pPr marL="285750" lvl="0" indent="-285750">
              <a:buFont typeface="Arial" panose="020B0604020202020204" pitchFamily="34" charset="0"/>
              <a:buChar char="•"/>
            </a:pPr>
            <a:r>
              <a:rPr lang="en-IN" sz="2800" dirty="0"/>
              <a:t>Interpret and analyse experimental data and explain the significance of the importance of agricultural features.</a:t>
            </a:r>
          </a:p>
          <a:p>
            <a:pPr marL="285750" lvl="0" indent="-285750">
              <a:buFont typeface="Arial" panose="020B0604020202020204" pitchFamily="34" charset="0"/>
              <a:buChar char="•"/>
            </a:pPr>
            <a:r>
              <a:rPr lang="en-IN" sz="2800" dirty="0"/>
              <a:t>Full Dissertation Writing, Proofreading and Formatting per University Submission Guidelines.</a:t>
            </a:r>
          </a:p>
          <a:p>
            <a:pPr marL="285750" lvl="0" indent="-285750">
              <a:buFont typeface="Arial" panose="020B0604020202020204" pitchFamily="34" charset="0"/>
              <a:buChar char="•"/>
            </a:pPr>
            <a:r>
              <a:rPr lang="en-IN" sz="2800" dirty="0"/>
              <a:t>Final presentation and demonstration for MSc project viva examination.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7D8B3-AEF4-A1B6-14C8-B33249A353DB}"/>
              </a:ext>
            </a:extLst>
          </p:cNvPr>
          <p:cNvSpPr>
            <a:spLocks noGrp="1"/>
          </p:cNvSpPr>
          <p:nvPr>
            <p:ph type="title"/>
          </p:nvPr>
        </p:nvSpPr>
        <p:spPr>
          <a:xfrm>
            <a:off x="4870450" y="19665"/>
            <a:ext cx="4418494" cy="553998"/>
          </a:xfrm>
        </p:spPr>
        <p:txBody>
          <a:bodyPr/>
          <a:lstStyle/>
          <a:p>
            <a:r>
              <a:rPr lang="en-IN" dirty="0"/>
              <a:t>Conclusion</a:t>
            </a:r>
          </a:p>
        </p:txBody>
      </p:sp>
      <p:sp>
        <p:nvSpPr>
          <p:cNvPr id="3" name="Text Placeholder 2">
            <a:extLst>
              <a:ext uri="{FF2B5EF4-FFF2-40B4-BE49-F238E27FC236}">
                <a16:creationId xmlns:a16="http://schemas.microsoft.com/office/drawing/2014/main" id="{CC64F1F6-56D6-6E02-A6CC-DB9EEDEAF529}"/>
              </a:ext>
            </a:extLst>
          </p:cNvPr>
          <p:cNvSpPr>
            <a:spLocks noGrp="1"/>
          </p:cNvSpPr>
          <p:nvPr>
            <p:ph type="body" idx="1"/>
          </p:nvPr>
        </p:nvSpPr>
        <p:spPr>
          <a:xfrm>
            <a:off x="411240" y="843677"/>
            <a:ext cx="11356818" cy="5170646"/>
          </a:xfrm>
        </p:spPr>
        <p:txBody>
          <a:bodyPr/>
          <a:lstStyle/>
          <a:p>
            <a:pPr marL="457200" lvl="0" indent="-457200">
              <a:buFont typeface="Arial" panose="020B0604020202020204" pitchFamily="34" charset="0"/>
              <a:buChar char="•"/>
            </a:pPr>
            <a:r>
              <a:rPr lang="en-IN" sz="2800" dirty="0"/>
              <a:t>The project is on track with ~75-80% of the proposed work done, with the remainder to be completed in the next 10 weeks.</a:t>
            </a:r>
          </a:p>
          <a:p>
            <a:pPr marL="457200" lvl="0" indent="-457200">
              <a:buFont typeface="Arial" panose="020B0604020202020204" pitchFamily="34" charset="0"/>
              <a:buChar char="•"/>
            </a:pPr>
            <a:r>
              <a:rPr lang="en-IN" sz="2800" dirty="0"/>
              <a:t>Successful completion of literature review, data set preparation, exploratory analysis and initial machine learning implementation.</a:t>
            </a:r>
          </a:p>
          <a:p>
            <a:pPr marL="457200" lvl="0" indent="-457200">
              <a:buFont typeface="Arial" panose="020B0604020202020204" pitchFamily="34" charset="0"/>
              <a:buChar char="•"/>
            </a:pPr>
            <a:r>
              <a:rPr lang="en-IN" sz="2800" dirty="0"/>
              <a:t>The proposed methodology gives a structured approach for creating and testing the intelligent crop recommendation system.</a:t>
            </a:r>
          </a:p>
          <a:p>
            <a:pPr marL="457200" lvl="0" indent="-457200">
              <a:buFont typeface="Arial" panose="020B0604020202020204" pitchFamily="34" charset="0"/>
              <a:buChar char="•"/>
            </a:pPr>
            <a:r>
              <a:rPr lang="en-IN" sz="2800" dirty="0"/>
              <a:t>The follow-up activities are mainly model evaluation, a comparison of performance, and completion of the dissertation, before the final submission.</a:t>
            </a:r>
          </a:p>
          <a:p>
            <a:pPr marL="457200" lvl="0" indent="-457200">
              <a:buFont typeface="Arial" panose="020B0604020202020204" pitchFamily="34" charset="0"/>
              <a:buChar char="•"/>
            </a:pPr>
            <a:r>
              <a:rPr lang="en-IN" sz="2800" dirty="0"/>
              <a:t>The project is still viable to continue and should still accomplish the project research goals within the proposed timeline.</a:t>
            </a:r>
          </a:p>
          <a:p>
            <a:endParaRPr lang="en-IN" sz="2800" dirty="0"/>
          </a:p>
        </p:txBody>
      </p:sp>
    </p:spTree>
    <p:extLst>
      <p:ext uri="{BB962C8B-B14F-4D97-AF65-F5344CB8AC3E}">
        <p14:creationId xmlns:p14="http://schemas.microsoft.com/office/powerpoint/2010/main" val="2024121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2787-14B7-7418-4FAC-A37BAB48EC6C}"/>
              </a:ext>
            </a:extLst>
          </p:cNvPr>
          <p:cNvSpPr>
            <a:spLocks noGrp="1"/>
          </p:cNvSpPr>
          <p:nvPr>
            <p:ph type="title"/>
          </p:nvPr>
        </p:nvSpPr>
        <p:spPr>
          <a:xfrm>
            <a:off x="5175250" y="78816"/>
            <a:ext cx="4418494" cy="553998"/>
          </a:xfrm>
        </p:spPr>
        <p:txBody>
          <a:bodyPr/>
          <a:lstStyle/>
          <a:p>
            <a:r>
              <a:rPr lang="en-IN" dirty="0"/>
              <a:t>References</a:t>
            </a:r>
          </a:p>
        </p:txBody>
      </p:sp>
      <p:graphicFrame>
        <p:nvGraphicFramePr>
          <p:cNvPr id="4" name="Table 3">
            <a:extLst>
              <a:ext uri="{FF2B5EF4-FFF2-40B4-BE49-F238E27FC236}">
                <a16:creationId xmlns:a16="http://schemas.microsoft.com/office/drawing/2014/main" id="{A12C592E-9175-7A11-E5A4-7AFE113C1EA2}"/>
              </a:ext>
            </a:extLst>
          </p:cNvPr>
          <p:cNvGraphicFramePr>
            <a:graphicFrameLocks noGrp="1"/>
          </p:cNvGraphicFramePr>
          <p:nvPr>
            <p:extLst>
              <p:ext uri="{D42A27DB-BD31-4B8C-83A1-F6EECF244321}">
                <p14:modId xmlns:p14="http://schemas.microsoft.com/office/powerpoint/2010/main" val="2153846129"/>
              </p:ext>
            </p:extLst>
          </p:nvPr>
        </p:nvGraphicFramePr>
        <p:xfrm>
          <a:off x="755650" y="838200"/>
          <a:ext cx="10286999" cy="5663985"/>
        </p:xfrm>
        <a:graphic>
          <a:graphicData uri="http://schemas.openxmlformats.org/drawingml/2006/table">
            <a:tbl>
              <a:tblPr firstRow="1" firstCol="1" bandRow="1">
                <a:tableStyleId>{9DCAF9ED-07DC-4A11-8D7F-57B35C25682E}</a:tableStyleId>
              </a:tblPr>
              <a:tblGrid>
                <a:gridCol w="838334">
                  <a:extLst>
                    <a:ext uri="{9D8B030D-6E8A-4147-A177-3AD203B41FA5}">
                      <a16:colId xmlns:a16="http://schemas.microsoft.com/office/drawing/2014/main" val="407213831"/>
                    </a:ext>
                  </a:extLst>
                </a:gridCol>
                <a:gridCol w="9448665">
                  <a:extLst>
                    <a:ext uri="{9D8B030D-6E8A-4147-A177-3AD203B41FA5}">
                      <a16:colId xmlns:a16="http://schemas.microsoft.com/office/drawing/2014/main" val="2656140793"/>
                    </a:ext>
                  </a:extLst>
                </a:gridCol>
              </a:tblGrid>
              <a:tr h="293811">
                <a:tc>
                  <a:txBody>
                    <a:bodyPr/>
                    <a:lstStyle/>
                    <a:p>
                      <a:pPr algn="just">
                        <a:lnSpc>
                          <a:spcPct val="150000"/>
                        </a:lnSpc>
                        <a:spcAft>
                          <a:spcPts val="800"/>
                        </a:spcAft>
                        <a:buNone/>
                      </a:pPr>
                      <a:r>
                        <a:rPr lang="en-IN" sz="1000" b="1" kern="100">
                          <a:solidFill>
                            <a:schemeClr val="tx1"/>
                          </a:solidFill>
                          <a:effectLst/>
                        </a:rPr>
                        <a:t>[1]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A. Monteiro, S. Santos and P. Gonçalves, “Precision Agriculture for Crop and Livestock Farming—Brief Review,” Animals, vol. 11, no. 8, p. 2345, 2021.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1436457736"/>
                  </a:ext>
                </a:extLst>
              </a:tr>
              <a:tr h="293811">
                <a:tc>
                  <a:txBody>
                    <a:bodyPr/>
                    <a:lstStyle/>
                    <a:p>
                      <a:pPr algn="just">
                        <a:lnSpc>
                          <a:spcPct val="150000"/>
                        </a:lnSpc>
                        <a:spcAft>
                          <a:spcPts val="800"/>
                        </a:spcAft>
                        <a:buNone/>
                      </a:pPr>
                      <a:r>
                        <a:rPr lang="en-IN" sz="1000" b="1" kern="100">
                          <a:solidFill>
                            <a:schemeClr val="tx1"/>
                          </a:solidFill>
                          <a:effectLst/>
                        </a:rPr>
                        <a:t>[2]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M. Tahat, K. Alananbeh, Y. Othman and D. Leskovar, “Soil Health and Sustainable Agriculture,” Sustainability, vol. 12, no. 12, p. 4859, 2020.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527102496"/>
                  </a:ext>
                </a:extLst>
              </a:tr>
              <a:tr h="293811">
                <a:tc>
                  <a:txBody>
                    <a:bodyPr/>
                    <a:lstStyle/>
                    <a:p>
                      <a:pPr algn="just">
                        <a:lnSpc>
                          <a:spcPct val="150000"/>
                        </a:lnSpc>
                        <a:spcAft>
                          <a:spcPts val="800"/>
                        </a:spcAft>
                        <a:buNone/>
                      </a:pPr>
                      <a:r>
                        <a:rPr lang="en-IN" sz="1000" b="1" kern="100">
                          <a:solidFill>
                            <a:schemeClr val="tx1"/>
                          </a:solidFill>
                          <a:effectLst/>
                        </a:rPr>
                        <a:t>[3]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K. Singh, M. Yadav, D. Barak, S. Bansal and F. Moreira, “Machine-Learning-Based Frameworks for Reliable and Sustainable Crop Forecasting,” Sustainability, vol. 17, no. 10, p. 4711, 2025.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3812462855"/>
                  </a:ext>
                </a:extLst>
              </a:tr>
              <a:tr h="293811">
                <a:tc>
                  <a:txBody>
                    <a:bodyPr/>
                    <a:lstStyle/>
                    <a:p>
                      <a:pPr algn="just">
                        <a:lnSpc>
                          <a:spcPct val="150000"/>
                        </a:lnSpc>
                        <a:spcAft>
                          <a:spcPts val="800"/>
                        </a:spcAft>
                        <a:buNone/>
                      </a:pPr>
                      <a:r>
                        <a:rPr lang="en-IN" sz="1000" b="1" kern="100">
                          <a:solidFill>
                            <a:schemeClr val="tx1"/>
                          </a:solidFill>
                          <a:effectLst/>
                        </a:rPr>
                        <a:t>[4]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dirty="0">
                          <a:solidFill>
                            <a:schemeClr val="tx1"/>
                          </a:solidFill>
                          <a:effectLst/>
                        </a:rPr>
                        <a:t>D.-C. </a:t>
                      </a:r>
                      <a:r>
                        <a:rPr lang="en-IN" sz="1000" b="1" kern="100" dirty="0" err="1">
                          <a:solidFill>
                            <a:schemeClr val="tx1"/>
                          </a:solidFill>
                          <a:effectLst/>
                        </a:rPr>
                        <a:t>Țopa</a:t>
                      </a:r>
                      <a:r>
                        <a:rPr lang="en-IN" sz="1000" b="1" kern="100" dirty="0">
                          <a:solidFill>
                            <a:schemeClr val="tx1"/>
                          </a:solidFill>
                          <a:effectLst/>
                        </a:rPr>
                        <a:t>, S. </a:t>
                      </a:r>
                      <a:r>
                        <a:rPr lang="en-IN" sz="1000" b="1" kern="100" dirty="0" err="1">
                          <a:solidFill>
                            <a:schemeClr val="tx1"/>
                          </a:solidFill>
                          <a:effectLst/>
                        </a:rPr>
                        <a:t>Căpșună</a:t>
                      </a:r>
                      <a:r>
                        <a:rPr lang="en-IN" sz="1000" b="1" kern="100" dirty="0">
                          <a:solidFill>
                            <a:schemeClr val="tx1"/>
                          </a:solidFill>
                          <a:effectLst/>
                        </a:rPr>
                        <a:t>, A.-E. </a:t>
                      </a:r>
                      <a:r>
                        <a:rPr lang="en-IN" sz="1000" b="1" kern="100" dirty="0" err="1">
                          <a:solidFill>
                            <a:schemeClr val="tx1"/>
                          </a:solidFill>
                          <a:effectLst/>
                        </a:rPr>
                        <a:t>Calistru</a:t>
                      </a:r>
                      <a:r>
                        <a:rPr lang="en-IN" sz="1000" b="1" kern="100" dirty="0">
                          <a:solidFill>
                            <a:schemeClr val="tx1"/>
                          </a:solidFill>
                          <a:effectLst/>
                        </a:rPr>
                        <a:t> and C. </a:t>
                      </a:r>
                      <a:r>
                        <a:rPr lang="en-IN" sz="1000" b="1" kern="100" dirty="0" err="1">
                          <a:solidFill>
                            <a:schemeClr val="tx1"/>
                          </a:solidFill>
                          <a:effectLst/>
                        </a:rPr>
                        <a:t>Ailincăi</a:t>
                      </a:r>
                      <a:r>
                        <a:rPr lang="en-IN" sz="1000" b="1" kern="100" dirty="0">
                          <a:solidFill>
                            <a:schemeClr val="tx1"/>
                          </a:solidFill>
                          <a:effectLst/>
                        </a:rPr>
                        <a:t>, “Sustainable Practices for Enhancing Soil Health and Crop Quality in Modern Agriculture: A Review,” Agriculture, vol. 15, no. 9, p. 998, 2025.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2372790860"/>
                  </a:ext>
                </a:extLst>
              </a:tr>
              <a:tr h="293811">
                <a:tc>
                  <a:txBody>
                    <a:bodyPr/>
                    <a:lstStyle/>
                    <a:p>
                      <a:pPr algn="just">
                        <a:lnSpc>
                          <a:spcPct val="150000"/>
                        </a:lnSpc>
                        <a:spcAft>
                          <a:spcPts val="800"/>
                        </a:spcAft>
                        <a:buNone/>
                      </a:pPr>
                      <a:r>
                        <a:rPr lang="en-IN" sz="1000" b="1" kern="100" dirty="0">
                          <a:solidFill>
                            <a:schemeClr val="tx1"/>
                          </a:solidFill>
                          <a:effectLst/>
                        </a:rPr>
                        <a:t>[5]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P. A. Barvin and T. Sampradeepraj, “Crop Recommendation Systems Based on Soil and Environmental Factors Using Graph Convolution Neural Network: A Systematic Literature Review,” ECSA 2023, p. 97, 2023.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2736897494"/>
                  </a:ext>
                </a:extLst>
              </a:tr>
              <a:tr h="293811">
                <a:tc>
                  <a:txBody>
                    <a:bodyPr/>
                    <a:lstStyle/>
                    <a:p>
                      <a:pPr algn="just">
                        <a:lnSpc>
                          <a:spcPct val="150000"/>
                        </a:lnSpc>
                        <a:spcAft>
                          <a:spcPts val="800"/>
                        </a:spcAft>
                        <a:buNone/>
                      </a:pPr>
                      <a:r>
                        <a:rPr lang="en-IN" sz="1000" b="1" kern="100">
                          <a:solidFill>
                            <a:schemeClr val="tx1"/>
                          </a:solidFill>
                          <a:effectLst/>
                        </a:rPr>
                        <a:t>[6]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M. Senapaty, A. Ray and N. Padhy, “A Decision Support System for Crop Recommendation Using Machine Learning Classification Algorithms,” Agriculture, vol. 14, no. 8, p. 1256, 2024.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3033230396"/>
                  </a:ext>
                </a:extLst>
              </a:tr>
              <a:tr h="293811">
                <a:tc>
                  <a:txBody>
                    <a:bodyPr/>
                    <a:lstStyle/>
                    <a:p>
                      <a:pPr algn="just">
                        <a:lnSpc>
                          <a:spcPct val="150000"/>
                        </a:lnSpc>
                        <a:spcAft>
                          <a:spcPts val="800"/>
                        </a:spcAft>
                        <a:buNone/>
                      </a:pPr>
                      <a:r>
                        <a:rPr lang="en-IN" sz="1000" b="1" kern="100">
                          <a:solidFill>
                            <a:schemeClr val="tx1"/>
                          </a:solidFill>
                          <a:effectLst/>
                        </a:rPr>
                        <a:t>[7]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P. Kiran, G. Abhinaya, S. Sruti and N. Padhy, “A Machine Learning-Enabled System for Crop Recommendation,” The 3rd International Electronic Conference on Processes, p. 51, 2024.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3622755564"/>
                  </a:ext>
                </a:extLst>
              </a:tr>
              <a:tr h="293811">
                <a:tc>
                  <a:txBody>
                    <a:bodyPr/>
                    <a:lstStyle/>
                    <a:p>
                      <a:pPr algn="just">
                        <a:lnSpc>
                          <a:spcPct val="150000"/>
                        </a:lnSpc>
                        <a:spcAft>
                          <a:spcPts val="800"/>
                        </a:spcAft>
                        <a:buNone/>
                      </a:pPr>
                      <a:r>
                        <a:rPr lang="en-IN" sz="1000" b="1" kern="100">
                          <a:solidFill>
                            <a:schemeClr val="tx1"/>
                          </a:solidFill>
                          <a:effectLst/>
                        </a:rPr>
                        <a:t>[8]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M. Čistý, M. Danko, S. Kohnová, B. Považanová and A. Trizna, “Machine Learning Enhanced by Feature Engineering for Estimating Snow Water Equivalent,” Water, vol. 16, no. 16, p. 2285, 2024.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2526344475"/>
                  </a:ext>
                </a:extLst>
              </a:tr>
              <a:tr h="293811">
                <a:tc>
                  <a:txBody>
                    <a:bodyPr/>
                    <a:lstStyle/>
                    <a:p>
                      <a:pPr algn="just">
                        <a:lnSpc>
                          <a:spcPct val="150000"/>
                        </a:lnSpc>
                        <a:spcAft>
                          <a:spcPts val="800"/>
                        </a:spcAft>
                        <a:buNone/>
                      </a:pPr>
                      <a:r>
                        <a:rPr lang="en-IN" sz="1000" b="1" kern="100">
                          <a:solidFill>
                            <a:schemeClr val="tx1"/>
                          </a:solidFill>
                          <a:effectLst/>
                        </a:rPr>
                        <a:t>[9]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M. Sanyaolu and A. Sadowski, “The Role of Precision Agriculture Technologies in Enhancing Sustainable Agriculture,” Sustainability, vol. 16, no. 15, p. 6668, 2024.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2426317785"/>
                  </a:ext>
                </a:extLst>
              </a:tr>
              <a:tr h="393422">
                <a:tc>
                  <a:txBody>
                    <a:bodyPr/>
                    <a:lstStyle/>
                    <a:p>
                      <a:pPr algn="just">
                        <a:lnSpc>
                          <a:spcPct val="150000"/>
                        </a:lnSpc>
                        <a:spcAft>
                          <a:spcPts val="800"/>
                        </a:spcAft>
                        <a:buNone/>
                      </a:pPr>
                      <a:r>
                        <a:rPr lang="en-IN" sz="1000" b="1" kern="100">
                          <a:solidFill>
                            <a:schemeClr val="tx1"/>
                          </a:solidFill>
                          <a:effectLst/>
                        </a:rPr>
                        <a:t>[10]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J. Addy, I. Anafo and E. Westman, “The Role of EDA in Developing Robust Machine Learning Models for Lithology and Penetration Rate Prediction from MWD Data,” Mining, vol. 6, no. 1, p. 19, 2026.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2391640111"/>
                  </a:ext>
                </a:extLst>
              </a:tr>
              <a:tr h="393422">
                <a:tc>
                  <a:txBody>
                    <a:bodyPr/>
                    <a:lstStyle/>
                    <a:p>
                      <a:pPr algn="just">
                        <a:lnSpc>
                          <a:spcPct val="150000"/>
                        </a:lnSpc>
                        <a:spcAft>
                          <a:spcPts val="800"/>
                        </a:spcAft>
                        <a:buNone/>
                      </a:pPr>
                      <a:r>
                        <a:rPr lang="en-IN" sz="1000" b="1" kern="100">
                          <a:solidFill>
                            <a:schemeClr val="tx1"/>
                          </a:solidFill>
                          <a:effectLst/>
                        </a:rPr>
                        <a:t>[11]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A. K. Yazdi, C. Durán, I. Derpich and G. González, “Forecasting Crop Yields in Rainfed India: A Comparative Assessment of Machine Learning Baselines and Implications for Precision Agribusiness,” Agriculture, vol. 16, no. 1, p. 65, 2025.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1512699352"/>
                  </a:ext>
                </a:extLst>
              </a:tr>
              <a:tr h="393422">
                <a:tc>
                  <a:txBody>
                    <a:bodyPr/>
                    <a:lstStyle/>
                    <a:p>
                      <a:pPr algn="just">
                        <a:lnSpc>
                          <a:spcPct val="150000"/>
                        </a:lnSpc>
                        <a:spcAft>
                          <a:spcPts val="800"/>
                        </a:spcAft>
                        <a:buNone/>
                      </a:pPr>
                      <a:r>
                        <a:rPr lang="en-IN" sz="1000" b="1" kern="100">
                          <a:solidFill>
                            <a:schemeClr val="tx1"/>
                          </a:solidFill>
                          <a:effectLst/>
                        </a:rPr>
                        <a:t>[12]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P. Koukaras and C. Tjortjis, “Data Preprocessing and Feature Engineering for Data Mining: Techniques, Tools, and Best Practices,” AI, vol. 6, no. 10, p. 257, 2025.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21767287"/>
                  </a:ext>
                </a:extLst>
              </a:tr>
              <a:tr h="393422">
                <a:tc>
                  <a:txBody>
                    <a:bodyPr/>
                    <a:lstStyle/>
                    <a:p>
                      <a:pPr algn="just">
                        <a:lnSpc>
                          <a:spcPct val="150000"/>
                        </a:lnSpc>
                        <a:spcAft>
                          <a:spcPts val="800"/>
                        </a:spcAft>
                        <a:buNone/>
                      </a:pPr>
                      <a:r>
                        <a:rPr lang="en-IN" sz="1000" b="1" kern="100">
                          <a:solidFill>
                            <a:schemeClr val="tx1"/>
                          </a:solidFill>
                          <a:effectLst/>
                        </a:rPr>
                        <a:t>[13]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a:solidFill>
                            <a:schemeClr val="tx1"/>
                          </a:solidFill>
                          <a:effectLst/>
                        </a:rPr>
                        <a:t>W. Garred, R. Oger and M. Lauras, “Automatic demand forecast model selection in supply chains: a forecast value-added analysis of selection strategies, machine learning, and hyperparameter optimisation,” International Journal of Production Research, pp. 1-20, 2026.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470863853"/>
                  </a:ext>
                </a:extLst>
              </a:tr>
              <a:tr h="393422">
                <a:tc>
                  <a:txBody>
                    <a:bodyPr/>
                    <a:lstStyle/>
                    <a:p>
                      <a:pPr algn="just">
                        <a:lnSpc>
                          <a:spcPct val="150000"/>
                        </a:lnSpc>
                        <a:spcAft>
                          <a:spcPts val="800"/>
                        </a:spcAft>
                        <a:buNone/>
                      </a:pPr>
                      <a:r>
                        <a:rPr lang="en-IN" sz="1000" b="1" kern="100">
                          <a:solidFill>
                            <a:schemeClr val="tx1"/>
                          </a:solidFill>
                          <a:effectLst/>
                        </a:rPr>
                        <a:t>[14]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tc>
                  <a:txBody>
                    <a:bodyPr/>
                    <a:lstStyle/>
                    <a:p>
                      <a:pPr algn="just">
                        <a:lnSpc>
                          <a:spcPct val="150000"/>
                        </a:lnSpc>
                        <a:spcAft>
                          <a:spcPts val="800"/>
                        </a:spcAft>
                        <a:buNone/>
                      </a:pPr>
                      <a:r>
                        <a:rPr lang="en-IN" sz="1000" b="1" kern="100" dirty="0">
                          <a:solidFill>
                            <a:schemeClr val="tx1"/>
                          </a:solidFill>
                          <a:effectLst/>
                        </a:rPr>
                        <a:t>V. Teodorescu and L. O. </a:t>
                      </a:r>
                      <a:r>
                        <a:rPr lang="en-IN" sz="1000" b="1" kern="100" dirty="0" err="1">
                          <a:solidFill>
                            <a:schemeClr val="tx1"/>
                          </a:solidFill>
                          <a:effectLst/>
                        </a:rPr>
                        <a:t>Brașoveanu</a:t>
                      </a:r>
                      <a:r>
                        <a:rPr lang="en-IN" sz="1000" b="1" kern="100" dirty="0">
                          <a:solidFill>
                            <a:schemeClr val="tx1"/>
                          </a:solidFill>
                          <a:effectLst/>
                        </a:rPr>
                        <a:t>, “Assessing the Validity of k-Fold Cross-Validation for Model Selection: Evidence from Bankruptcy Prediction Using Random Forest and </a:t>
                      </a:r>
                      <a:r>
                        <a:rPr lang="en-IN" sz="1000" b="1" kern="100" dirty="0" err="1">
                          <a:solidFill>
                            <a:schemeClr val="tx1"/>
                          </a:solidFill>
                          <a:effectLst/>
                        </a:rPr>
                        <a:t>XGBoost</a:t>
                      </a:r>
                      <a:r>
                        <a:rPr lang="en-IN" sz="1000" b="1" kern="100" dirty="0">
                          <a:solidFill>
                            <a:schemeClr val="tx1"/>
                          </a:solidFill>
                          <a:effectLst/>
                        </a:rPr>
                        <a:t>,” Computation, vol. 13, no. 5, p. 127, 2025.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080" marR="3080" marT="3080" marB="3080"/>
                </a:tc>
                <a:extLst>
                  <a:ext uri="{0D108BD9-81ED-4DB2-BD59-A6C34878D82A}">
                    <a16:rowId xmlns:a16="http://schemas.microsoft.com/office/drawing/2014/main" val="957719021"/>
                  </a:ext>
                </a:extLst>
              </a:tr>
            </a:tbl>
          </a:graphicData>
        </a:graphic>
      </p:graphicFrame>
    </p:spTree>
    <p:extLst>
      <p:ext uri="{BB962C8B-B14F-4D97-AF65-F5344CB8AC3E}">
        <p14:creationId xmlns:p14="http://schemas.microsoft.com/office/powerpoint/2010/main" val="4110500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TotalTime>
  <Words>2388</Words>
  <Application>Microsoft Office PowerPoint</Application>
  <PresentationFormat>Custom</PresentationFormat>
  <Paragraphs>150</Paragraphs>
  <Slides>13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Arial MT</vt:lpstr>
      <vt:lpstr>Calibri</vt:lpstr>
      <vt:lpstr>Lucida Sans Unicode</vt:lpstr>
      <vt:lpstr>Tahoma</vt:lpstr>
      <vt:lpstr>Times New Roman</vt:lpstr>
      <vt:lpstr>Office Theme</vt:lpstr>
      <vt:lpstr>MSc Project</vt:lpstr>
      <vt:lpstr>Outline</vt:lpstr>
      <vt:lpstr>Context</vt:lpstr>
      <vt:lpstr>Problem Statement - WHY</vt:lpstr>
      <vt:lpstr>Objective - WHAT</vt:lpstr>
      <vt:lpstr>Methodology - HOW</vt:lpstr>
      <vt:lpstr>Project Management</vt:lpstr>
      <vt:lpstr>Literature Review</vt:lpstr>
      <vt:lpstr>Challenges &amp; Risk Management</vt:lpstr>
      <vt:lpstr>Progress So Far</vt:lpstr>
      <vt:lpstr>Next Steps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2026-08-03T06:52:21Z</dcterms:created>
  <dcterms:modified xsi:type="dcterms:W3CDTF">2026-08-04T13:25:52Z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2026-08-03T00:00:00Z</vt:filetime>
  </property>
  <property fmtid="{D5CDD505-2E9C-101B-9397-08002B2CF9AE}" pid="4" name="Producer">
    <vt:lpwstr>Skia/PDF m136</vt:lpwstr>
  </property>
  <property fmtid="{D5CDD505-2E9C-101B-9397-08002B2CF9AE}" pid="5" name="LastSaved">
    <vt:filetime>2026-08-03T00:00:00Z</vt:filetime>
  </property>
</Properties>
</file>